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0:02-0:03 | set the frame
OPEN: "Thank you for the time. Here is what I would like us to leave with today" (read the three cards, one breath each).
ASK: "Is that the right outcome for the hour?"
AVOID: no company history, no feature list, no agenda of slides.
BRIDGE: "Before I show anything, I want to confirm I understood each of you."
CLOCK: whole meeting is 45 min role-play + 15 min debrief. Plan 25 min of content; questions will fill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0:03-0:08 (allow up to 10) | discovery validation, person by person
OPEN: confirm each role out loud: "You are the [role], correct?" then read "what I heard" from the prompt notes, using THEIR words.
ASK each persona one open question: executive = "what would make this a win for you in a quarter?"; technical = "what is the constraint I should design around?"; business = "which decision waits on this data today?"
LISTEN FOR: new facts, emotion, a number, a deadline. Write them on the slide or on paper.
BRIDGE: "Thank you. Here is how that changes what we measure." (go to slide 3)
AVOID: do not correct them, do not start solving, do not read the slide.
IF THEY TALK LONG: good. Protect this slide; cut slide 3 depth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0:08-0:11 | translate technical into business value
OPEN: "Based on what you told me, this is how I would measure success." Walk the table by persona, one line each.
KEY LINE: "Faster is the means. The value is [x]." (for each persona finish the sentence: faster -&gt; fewer stockouts / quicker decisions / less manual work / more visibility).
ASK: "Which of these would you change?" Let them rewrite a cell.
AVOID: NO cost, pricing or TCO talk (they said it is out of scope). Value is outcomes: revenue protected, decisions sooner, risk reduced, time returned.
BRIDGE: "Let me show you what that looks like on data shaped like yours." (go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0:11-0:12, then LIVE DEMO until about 0:21 | solution map, then jump to the demo
OPEN: "Quick map so you know what is real today and what is assumed." Solid = built; dashed = assumed (say what you assumed and why, e.g. 'I assumed your store systems land files in cloud storage').
EVERY box: say the business problem it solves in one sentence; if a box has no stated problem, do not mention it.
ASK: "Does anything here worry you?"
THEN DEMO (jump back and forth): show only the screens that answer the persona questions from slide 2. One business question per screen. Say the business answer first, then how.
AVOID: no tour of notebooks, no 'how Genie works', no feature you cannot tie to a stated problem (the work-truck-with-a-Bose-stereo trap).
DEMO ORDER: 1 the target artifact answering the executive's question, 2 the technical leader's concern (freshness, governance, reliability), 3 the business leader's self-service question (Genie or the prompt library).
IF IT BREAKS: "Let me show you the screenshot" (backup slides); keep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about 0:21-0:24 | the journey
OPEN: "Here is how we get from today to value, without a big bang." Walk the three blocks with REAL dates counted from the interview date.
DATE RULE: pilot starts the Monday after the meeting (or the date they give), runs 2 weeks, 1 adjustment week, go-live the week of Thanksgiving (US: 4th Thursday of November). Check the calendar: do not state an impossible date.
ASK: "Who on your side would own the pilot?" (get a name)
LISTEN FOR: constraints on timing, approvals, a blocker you can pre-empt.
AVOID: no price, no cost, no commercial terms; if asked: "Commercial terms follow the pilot; today I want to confirm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about 0:24-0:27 (use whenever the conversation reaches it; latest start 0:38) | assumptive close
OPEN: "So here is what I propose: we kick off on [date]." State dates as already agreed, not as a question ("we start on", not "would you like to").
ASK: "Anything that would stop us starting on [date]?" Then be quiet; let them answer.
HANDLE: objection -&gt; acknowledge, ask what is behind it, reframe to the business outcome, offer a smaller step (a one-workload pilot).
CLOSE: read back the names and dates; thank each person by name; ask "what did I miss?".
AVOID: do not open new topics in the last five minutes; no price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Use when asked 'what did you assume?'. They said assumptions will not be challenged, but you must explain them and why they are reasonable. Say what you stood in for and what would change if it is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Use if the technical leader asks how the pieces fit. Mark built vs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Use if asked about tables or grain. State the grain of each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For the 15-minute debrief only. Say: tools used, what you checked in AI output, what you assumed, what you would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HIT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000" b="1" dirty="0">
                <a:solidFill>
                  <a:srgbClr val="1F2933"/>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[Customer]: [their outcome]</a:t>
            </a:r>
            <a:endParaRPr lang="en-US" sz="3000" dirty="0"/>
          </a:p>
        </p:txBody>
      </p:sp>
      <p:sp>
        <p:nvSpPr>
          <p:cNvPr id="3" name="Shape 1"/>
          <p:cNvSpPr/>
          <p:nvPr/>
        </p:nvSpPr>
        <p:spPr>
          <a:xfrm>
            <a:off x="548640" y="1097280"/>
            <a:ext cx="1097280" cy="0"/>
          </a:xfrm>
          <a:prstGeom prst="line">
            <a:avLst/>
          </a:prstGeom>
          <a:noFill/>
          <a:ln w="25400">
            <a:solidFill>
              <a:srgbClr val="1F5FBF"/>
            </a:solidFill>
            <a:prstDash val="solid"/>
          </a:ln>
        </p:spPr>
      </p:sp>
      <p:sp>
        <p:nvSpPr>
          <p:cNvPr id="4" name="Text 2"/>
          <p:cNvSpPr txBox="1"/>
          <p:nvPr/>
        </p:nvSpPr>
        <p:spPr>
          <a:xfrm>
            <a:off x="548640" y="1280160"/>
            <a:ext cx="8046720" cy="36576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By the end of this meeting you will have seen:</a:t>
            </a:r>
            <a:endParaRPr lang="en-US" sz="1800" dirty="0"/>
          </a:p>
        </p:txBody>
      </p:sp>
      <p:sp>
        <p:nvSpPr>
          <p:cNvPr id="5" name="out0"/>
          <p:cNvSpPr/>
          <p:nvPr/>
        </p:nvSpPr>
        <p:spPr>
          <a:xfrm>
            <a:off x="548640" y="1828800"/>
            <a:ext cx="2560320" cy="2103120"/>
          </a:xfrm>
          <a:prstGeom prst="rect">
            <a:avLst/>
          </a:prstGeom>
          <a:solidFill>
            <a:srgbClr val="FFFFFF"/>
          </a:solidFill>
          <a:ln w="9525">
            <a:solidFill>
              <a:srgbClr val="D9DCE1"/>
            </a:solidFill>
            <a:prstDash val="solid"/>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indent="0" marL="0">
              <a:buNone/>
            </a:pPr>
            <a:r>
              <a:rPr lang="en-US" sz="3200" b="1" dirty="0">
                <a:solidFill>
                  <a:srgbClr val="1F5FBF"/>
                </a:solidFill>
                <a:latin typeface="Calibri" pitchFamily="34" charset="0"/>
                <a:ea typeface="Calibri" pitchFamily="34" charset="-122"/>
                <a:cs typeface="Calibri" pitchFamily="34" charset="-120"/>
              </a:rPr>
              <a:t>1</a:t>
            </a:r>
            <a:endParaRPr lang="en-US" sz="3200" dirty="0"/>
          </a:p>
        </p:txBody>
      </p:sp>
      <p:sp>
        <p:nvSpPr>
          <p:cNvPr id="7" name="Text 5"/>
          <p:cNvSpPr txBox="1"/>
          <p:nvPr/>
        </p:nvSpPr>
        <p:spPr>
          <a:xfrm>
            <a:off x="777240" y="2697480"/>
            <a:ext cx="2148840" cy="548640"/>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Your situation, as I understood it</a:t>
            </a:r>
            <a:endParaRPr lang="en-US" sz="1700" dirty="0"/>
          </a:p>
        </p:txBody>
      </p:sp>
      <p:sp>
        <p:nvSpPr>
          <p:cNvPr id="8" name="Text 6"/>
          <p:cNvSpPr txBox="1"/>
          <p:nvPr/>
        </p:nvSpPr>
        <p:spPr>
          <a:xfrm>
            <a:off x="777240" y="3246120"/>
            <a:ext cx="2148840" cy="6400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Confirmed with each of you first.</a:t>
            </a:r>
            <a:endParaRPr lang="en-US" sz="1400" dirty="0"/>
          </a:p>
        </p:txBody>
      </p:sp>
      <p:sp>
        <p:nvSpPr>
          <p:cNvPr id="9" name="out1"/>
          <p:cNvSpPr/>
          <p:nvPr/>
        </p:nvSpPr>
        <p:spPr>
          <a:xfrm>
            <a:off x="3291840" y="1828800"/>
            <a:ext cx="2560320" cy="2103120"/>
          </a:xfrm>
          <a:prstGeom prst="rect">
            <a:avLst/>
          </a:prstGeom>
          <a:solidFill>
            <a:srgbClr val="FFFFFF"/>
          </a:solidFill>
          <a:ln w="9525">
            <a:solidFill>
              <a:srgbClr val="D9DCE1"/>
            </a:solidFill>
            <a:prstDash val="solid"/>
          </a:ln>
        </p:spPr>
      </p:sp>
      <p:sp>
        <p:nvSpPr>
          <p:cNvPr id="10" name="Text 8"/>
          <p:cNvSpPr txBox="1"/>
          <p:nvPr/>
        </p:nvSpPr>
        <p:spPr>
          <a:xfrm>
            <a:off x="3520440" y="2011680"/>
            <a:ext cx="548640" cy="548640"/>
          </a:xfrm>
          <a:prstGeom prst="rect">
            <a:avLst/>
          </a:prstGeom>
          <a:noFill/>
          <a:ln/>
        </p:spPr>
        <p:txBody>
          <a:bodyPr wrap="square" lIns="0" tIns="0" rIns="0" bIns="0" rtlCol="0" anchor="ctr"/>
          <a:lstStyle/>
          <a:p>
            <a:pPr indent="0" marL="0">
              <a:buNone/>
            </a:pPr>
            <a:r>
              <a:rPr lang="en-US" sz="3200" b="1" dirty="0">
                <a:solidFill>
                  <a:srgbClr val="1F5FBF"/>
                </a:solidFill>
                <a:latin typeface="Calibri" pitchFamily="34" charset="0"/>
                <a:ea typeface="Calibri" pitchFamily="34" charset="-122"/>
                <a:cs typeface="Calibri" pitchFamily="34" charset="-120"/>
              </a:rPr>
              <a:t>2</a:t>
            </a:r>
            <a:endParaRPr lang="en-US" sz="3200" dirty="0"/>
          </a:p>
        </p:txBody>
      </p:sp>
      <p:sp>
        <p:nvSpPr>
          <p:cNvPr id="11" name="Text 9"/>
          <p:cNvSpPr txBox="1"/>
          <p:nvPr/>
        </p:nvSpPr>
        <p:spPr>
          <a:xfrm>
            <a:off x="3520440" y="2697480"/>
            <a:ext cx="2148840" cy="548640"/>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A working demo on your questions</a:t>
            </a:r>
            <a:endParaRPr lang="en-US" sz="1700" dirty="0"/>
          </a:p>
        </p:txBody>
      </p:sp>
      <p:sp>
        <p:nvSpPr>
          <p:cNvPr id="12" name="Text 10"/>
          <p:cNvSpPr txBox="1"/>
          <p:nvPr/>
        </p:nvSpPr>
        <p:spPr>
          <a:xfrm>
            <a:off x="3520440" y="3246120"/>
            <a:ext cx="2148840" cy="6400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[Dashboard / app / Genie], on data shaped like yours.</a:t>
            </a:r>
            <a:endParaRPr lang="en-US" sz="1400" dirty="0"/>
          </a:p>
        </p:txBody>
      </p:sp>
      <p:sp>
        <p:nvSpPr>
          <p:cNvPr id="13" name="out2"/>
          <p:cNvSpPr/>
          <p:nvPr/>
        </p:nvSpPr>
        <p:spPr>
          <a:xfrm>
            <a:off x="6035040" y="1828800"/>
            <a:ext cx="2560320" cy="2103120"/>
          </a:xfrm>
          <a:prstGeom prst="rect">
            <a:avLst/>
          </a:prstGeom>
          <a:solidFill>
            <a:srgbClr val="FFFFFF"/>
          </a:solidFill>
          <a:ln w="9525">
            <a:solidFill>
              <a:srgbClr val="D9DCE1"/>
            </a:solidFill>
            <a:prstDash val="solid"/>
          </a:ln>
        </p:spPr>
      </p:sp>
      <p:sp>
        <p:nvSpPr>
          <p:cNvPr id="14" name="Text 12"/>
          <p:cNvSpPr txBox="1"/>
          <p:nvPr/>
        </p:nvSpPr>
        <p:spPr>
          <a:xfrm>
            <a:off x="6263640" y="2011680"/>
            <a:ext cx="548640" cy="548640"/>
          </a:xfrm>
          <a:prstGeom prst="rect">
            <a:avLst/>
          </a:prstGeom>
          <a:noFill/>
          <a:ln/>
        </p:spPr>
        <p:txBody>
          <a:bodyPr wrap="square" lIns="0" tIns="0" rIns="0" bIns="0" rtlCol="0" anchor="ctr"/>
          <a:lstStyle/>
          <a:p>
            <a:pPr indent="0" marL="0">
              <a:buNone/>
            </a:pPr>
            <a:r>
              <a:rPr lang="en-US" sz="3200" b="1" dirty="0">
                <a:solidFill>
                  <a:srgbClr val="1F5FBF"/>
                </a:solidFill>
                <a:latin typeface="Calibri" pitchFamily="34" charset="0"/>
                <a:ea typeface="Calibri" pitchFamily="34" charset="-122"/>
                <a:cs typeface="Calibri" pitchFamily="34" charset="-120"/>
              </a:rPr>
              <a:t>3</a:t>
            </a:r>
            <a:endParaRPr lang="en-US" sz="3200" dirty="0"/>
          </a:p>
        </p:txBody>
      </p:sp>
      <p:sp>
        <p:nvSpPr>
          <p:cNvPr id="15" name="Text 13"/>
          <p:cNvSpPr txBox="1"/>
          <p:nvPr/>
        </p:nvSpPr>
        <p:spPr>
          <a:xfrm>
            <a:off x="6263640" y="2697480"/>
            <a:ext cx="2148840" cy="548640"/>
          </a:xfrm>
          <a:prstGeom prst="rect">
            <a:avLst/>
          </a:prstGeom>
          <a:noFill/>
          <a:ln/>
        </p:spPr>
        <p:txBody>
          <a:bodyPr wrap="square" lIns="0" tIns="0" rIns="0" bIns="0" rtlCol="0" anchor="t"/>
          <a:lstStyle/>
          <a:p>
            <a:pPr indent="0" marL="0">
              <a:buNone/>
            </a:pPr>
            <a:r>
              <a:rPr lang="en-US" sz="1700" b="1" dirty="0">
                <a:solidFill>
                  <a:srgbClr val="1F2933"/>
                </a:solidFill>
                <a:latin typeface="Calibri" pitchFamily="34" charset="0"/>
                <a:ea typeface="Calibri" pitchFamily="34" charset="-122"/>
                <a:cs typeface="Calibri" pitchFamily="34" charset="-120"/>
              </a:rPr>
              <a:t>A two-week pilot</a:t>
            </a:r>
            <a:endParaRPr lang="en-US" sz="1700" dirty="0"/>
          </a:p>
        </p:txBody>
      </p:sp>
      <p:sp>
        <p:nvSpPr>
          <p:cNvPr id="16" name="Text 14"/>
          <p:cNvSpPr txBox="1"/>
          <p:nvPr/>
        </p:nvSpPr>
        <p:spPr>
          <a:xfrm>
            <a:off x="6263640" y="3246120"/>
            <a:ext cx="2148840" cy="6400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With dates, owners and a measure of success.</a:t>
            </a:r>
            <a:endParaRPr lang="en-US" sz="1400" dirty="0"/>
          </a:p>
        </p:txBody>
      </p:sp>
      <p:sp>
        <p:nvSpPr>
          <p:cNvPr id="17" name="Text 15"/>
          <p:cNvSpPr txBox="1"/>
          <p:nvPr/>
        </p:nvSpPr>
        <p:spPr>
          <a:xfrm>
            <a:off x="548640" y="4754880"/>
            <a:ext cx="73152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Syed Javed Ali  |  Databricks Solutions Architect  |  [Date]</a:t>
            </a:r>
            <a:endParaRPr lang="en-US" sz="1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What I heard from each of you</a:t>
            </a:r>
            <a:endParaRPr lang="en-US" sz="3000" dirty="0"/>
          </a:p>
        </p:txBody>
      </p:sp>
      <p:sp>
        <p:nvSpPr>
          <p:cNvPr id="3" name="per0"/>
          <p:cNvSpPr/>
          <p:nvPr/>
        </p:nvSpPr>
        <p:spPr>
          <a:xfrm>
            <a:off x="548640" y="1280160"/>
            <a:ext cx="2560320" cy="2834640"/>
          </a:xfrm>
          <a:prstGeom prst="rect">
            <a:avLst/>
          </a:prstGeom>
          <a:solidFill>
            <a:srgbClr val="FFFFFF"/>
          </a:solidFill>
          <a:ln w="9525">
            <a:solidFill>
              <a:srgbClr val="D9DCE1"/>
            </a:solidFill>
            <a:prstDash val="solid"/>
          </a:ln>
        </p:spPr>
      </p:sp>
      <p:sp>
        <p:nvSpPr>
          <p:cNvPr id="4" name="Shape 2"/>
          <p:cNvSpPr/>
          <p:nvPr/>
        </p:nvSpPr>
        <p:spPr>
          <a:xfrm>
            <a:off x="548640" y="1280160"/>
            <a:ext cx="2560320" cy="0"/>
          </a:xfrm>
          <a:prstGeom prst="line">
            <a:avLst/>
          </a:prstGeom>
          <a:noFill/>
          <a:ln w="38100">
            <a:solidFill>
              <a:srgbClr val="1F5FBF"/>
            </a:solidFill>
            <a:prstDash val="solid"/>
          </a:ln>
        </p:spPr>
      </p:sp>
      <p:sp>
        <p:nvSpPr>
          <p:cNvPr id="5" name="Text 3"/>
          <p:cNvSpPr txBox="1"/>
          <p:nvPr/>
        </p:nvSpPr>
        <p:spPr>
          <a:xfrm>
            <a:off x="731520" y="1417320"/>
            <a:ext cx="2194560" cy="365760"/>
          </a:xfrm>
          <a:prstGeom prst="rect">
            <a:avLst/>
          </a:prstGeom>
          <a:noFill/>
          <a:ln/>
        </p:spPr>
        <p:txBody>
          <a:bodyPr wrap="square" lIns="0" tIns="0" rIns="0" bIns="0" rtlCol="0" anchor="ctr"/>
          <a:lstStyle/>
          <a:p>
            <a:pPr indent="0" marL="0">
              <a:buNone/>
            </a:pPr>
            <a:r>
              <a:rPr lang="en-US" sz="1600" b="1" dirty="0">
                <a:solidFill>
                  <a:srgbClr val="1F5FBF"/>
                </a:solidFill>
                <a:latin typeface="Calibri" pitchFamily="34" charset="0"/>
                <a:ea typeface="Calibri" pitchFamily="34" charset="-122"/>
                <a:cs typeface="Calibri" pitchFamily="34" charset="-120"/>
              </a:rPr>
              <a:t>Executive</a:t>
            </a:r>
            <a:endParaRPr lang="en-US" sz="1600" dirty="0"/>
          </a:p>
        </p:txBody>
      </p:sp>
      <p:sp>
        <p:nvSpPr>
          <p:cNvPr id="6" name="Text 4"/>
          <p:cNvSpPr txBox="1"/>
          <p:nvPr/>
        </p:nvSpPr>
        <p:spPr>
          <a:xfrm>
            <a:off x="731520" y="1783080"/>
            <a:ext cx="21945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[Name, title]</a:t>
            </a:r>
            <a:endParaRPr lang="en-US" sz="1300" dirty="0"/>
          </a:p>
        </p:txBody>
      </p:sp>
      <p:sp>
        <p:nvSpPr>
          <p:cNvPr id="7" name="Text 5"/>
          <p:cNvSpPr txBox="1"/>
          <p:nvPr/>
        </p:nvSpPr>
        <p:spPr>
          <a:xfrm>
            <a:off x="731520" y="2194560"/>
            <a:ext cx="2194560" cy="9144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You said: [quote or paraphrase]</a:t>
            </a:r>
            <a:endParaRPr lang="en-US" sz="1400" dirty="0"/>
          </a:p>
        </p:txBody>
      </p:sp>
      <p:sp>
        <p:nvSpPr>
          <p:cNvPr id="8" name="Text 6"/>
          <p:cNvSpPr txBox="1"/>
          <p:nvPr/>
        </p:nvSpPr>
        <p:spPr>
          <a:xfrm>
            <a:off x="731520" y="3200400"/>
            <a:ext cx="2194560" cy="822960"/>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Success: [what they want]</a:t>
            </a:r>
            <a:endParaRPr lang="en-US" sz="1400" dirty="0"/>
          </a:p>
        </p:txBody>
      </p:sp>
      <p:sp>
        <p:nvSpPr>
          <p:cNvPr id="9" name="per1"/>
          <p:cNvSpPr/>
          <p:nvPr/>
        </p:nvSpPr>
        <p:spPr>
          <a:xfrm>
            <a:off x="3291840" y="1280160"/>
            <a:ext cx="2560320" cy="2834640"/>
          </a:xfrm>
          <a:prstGeom prst="rect">
            <a:avLst/>
          </a:prstGeom>
          <a:solidFill>
            <a:srgbClr val="FFFFFF"/>
          </a:solidFill>
          <a:ln w="9525">
            <a:solidFill>
              <a:srgbClr val="D9DCE1"/>
            </a:solidFill>
            <a:prstDash val="solid"/>
          </a:ln>
        </p:spPr>
      </p:sp>
      <p:sp>
        <p:nvSpPr>
          <p:cNvPr id="10" name="Shape 8"/>
          <p:cNvSpPr/>
          <p:nvPr/>
        </p:nvSpPr>
        <p:spPr>
          <a:xfrm>
            <a:off x="3291840" y="1280160"/>
            <a:ext cx="2560320" cy="0"/>
          </a:xfrm>
          <a:prstGeom prst="line">
            <a:avLst/>
          </a:prstGeom>
          <a:noFill/>
          <a:ln w="38100">
            <a:solidFill>
              <a:srgbClr val="1F5FBF"/>
            </a:solidFill>
            <a:prstDash val="solid"/>
          </a:ln>
        </p:spPr>
      </p:sp>
      <p:sp>
        <p:nvSpPr>
          <p:cNvPr id="11" name="Text 9"/>
          <p:cNvSpPr txBox="1"/>
          <p:nvPr/>
        </p:nvSpPr>
        <p:spPr>
          <a:xfrm>
            <a:off x="3474720" y="1417320"/>
            <a:ext cx="2194560" cy="365760"/>
          </a:xfrm>
          <a:prstGeom prst="rect">
            <a:avLst/>
          </a:prstGeom>
          <a:noFill/>
          <a:ln/>
        </p:spPr>
        <p:txBody>
          <a:bodyPr wrap="square" lIns="0" tIns="0" rIns="0" bIns="0" rtlCol="0" anchor="ctr"/>
          <a:lstStyle/>
          <a:p>
            <a:pPr indent="0" marL="0">
              <a:buNone/>
            </a:pPr>
            <a:r>
              <a:rPr lang="en-US" sz="1600" b="1" dirty="0">
                <a:solidFill>
                  <a:srgbClr val="1F5FBF"/>
                </a:solidFill>
                <a:latin typeface="Calibri" pitchFamily="34" charset="0"/>
                <a:ea typeface="Calibri" pitchFamily="34" charset="-122"/>
                <a:cs typeface="Calibri" pitchFamily="34" charset="-120"/>
              </a:rPr>
              <a:t>Technical leader</a:t>
            </a:r>
            <a:endParaRPr lang="en-US" sz="1600" dirty="0"/>
          </a:p>
        </p:txBody>
      </p:sp>
      <p:sp>
        <p:nvSpPr>
          <p:cNvPr id="12" name="Text 10"/>
          <p:cNvSpPr txBox="1"/>
          <p:nvPr/>
        </p:nvSpPr>
        <p:spPr>
          <a:xfrm>
            <a:off x="3474720" y="1783080"/>
            <a:ext cx="21945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[Name, title]</a:t>
            </a:r>
            <a:endParaRPr lang="en-US" sz="1300" dirty="0"/>
          </a:p>
        </p:txBody>
      </p:sp>
      <p:sp>
        <p:nvSpPr>
          <p:cNvPr id="13" name="Text 11"/>
          <p:cNvSpPr txBox="1"/>
          <p:nvPr/>
        </p:nvSpPr>
        <p:spPr>
          <a:xfrm>
            <a:off x="3474720" y="2194560"/>
            <a:ext cx="2194560" cy="9144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You said: [quote]</a:t>
            </a:r>
            <a:endParaRPr lang="en-US" sz="1400" dirty="0"/>
          </a:p>
        </p:txBody>
      </p:sp>
      <p:sp>
        <p:nvSpPr>
          <p:cNvPr id="14" name="Text 12"/>
          <p:cNvSpPr txBox="1"/>
          <p:nvPr/>
        </p:nvSpPr>
        <p:spPr>
          <a:xfrm>
            <a:off x="3474720" y="3200400"/>
            <a:ext cx="2194560" cy="822960"/>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Success: [what they want]</a:t>
            </a:r>
            <a:endParaRPr lang="en-US" sz="1400" dirty="0"/>
          </a:p>
        </p:txBody>
      </p:sp>
      <p:sp>
        <p:nvSpPr>
          <p:cNvPr id="15" name="per2"/>
          <p:cNvSpPr/>
          <p:nvPr/>
        </p:nvSpPr>
        <p:spPr>
          <a:xfrm>
            <a:off x="6035040" y="1280160"/>
            <a:ext cx="2560320" cy="2834640"/>
          </a:xfrm>
          <a:prstGeom prst="rect">
            <a:avLst/>
          </a:prstGeom>
          <a:solidFill>
            <a:srgbClr val="FFFFFF"/>
          </a:solidFill>
          <a:ln w="9525">
            <a:solidFill>
              <a:srgbClr val="D9DCE1"/>
            </a:solidFill>
            <a:prstDash val="solid"/>
          </a:ln>
        </p:spPr>
      </p:sp>
      <p:sp>
        <p:nvSpPr>
          <p:cNvPr id="16" name="Shape 14"/>
          <p:cNvSpPr/>
          <p:nvPr/>
        </p:nvSpPr>
        <p:spPr>
          <a:xfrm>
            <a:off x="6035040" y="1280160"/>
            <a:ext cx="2560320" cy="0"/>
          </a:xfrm>
          <a:prstGeom prst="line">
            <a:avLst/>
          </a:prstGeom>
          <a:noFill/>
          <a:ln w="38100">
            <a:solidFill>
              <a:srgbClr val="1F5FBF"/>
            </a:solidFill>
            <a:prstDash val="solid"/>
          </a:ln>
        </p:spPr>
      </p:sp>
      <p:sp>
        <p:nvSpPr>
          <p:cNvPr id="17" name="Text 15"/>
          <p:cNvSpPr txBox="1"/>
          <p:nvPr/>
        </p:nvSpPr>
        <p:spPr>
          <a:xfrm>
            <a:off x="6217920" y="1417320"/>
            <a:ext cx="2194560" cy="365760"/>
          </a:xfrm>
          <a:prstGeom prst="rect">
            <a:avLst/>
          </a:prstGeom>
          <a:noFill/>
          <a:ln/>
        </p:spPr>
        <p:txBody>
          <a:bodyPr wrap="square" lIns="0" tIns="0" rIns="0" bIns="0" rtlCol="0" anchor="ctr"/>
          <a:lstStyle/>
          <a:p>
            <a:pPr indent="0" marL="0">
              <a:buNone/>
            </a:pPr>
            <a:r>
              <a:rPr lang="en-US" sz="1600" b="1" dirty="0">
                <a:solidFill>
                  <a:srgbClr val="1F5FBF"/>
                </a:solidFill>
                <a:latin typeface="Calibri" pitchFamily="34" charset="0"/>
                <a:ea typeface="Calibri" pitchFamily="34" charset="-122"/>
                <a:cs typeface="Calibri" pitchFamily="34" charset="-120"/>
              </a:rPr>
              <a:t>Business / analytics leader</a:t>
            </a:r>
            <a:endParaRPr lang="en-US" sz="1600" dirty="0"/>
          </a:p>
        </p:txBody>
      </p:sp>
      <p:sp>
        <p:nvSpPr>
          <p:cNvPr id="18" name="Text 16"/>
          <p:cNvSpPr txBox="1"/>
          <p:nvPr/>
        </p:nvSpPr>
        <p:spPr>
          <a:xfrm>
            <a:off x="6217920" y="1783080"/>
            <a:ext cx="21945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[Name, title]</a:t>
            </a:r>
            <a:endParaRPr lang="en-US" sz="1300" dirty="0"/>
          </a:p>
        </p:txBody>
      </p:sp>
      <p:sp>
        <p:nvSpPr>
          <p:cNvPr id="19" name="Text 17"/>
          <p:cNvSpPr txBox="1"/>
          <p:nvPr/>
        </p:nvSpPr>
        <p:spPr>
          <a:xfrm>
            <a:off x="6217920" y="2194560"/>
            <a:ext cx="2194560" cy="9144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You said: [quote]</a:t>
            </a:r>
            <a:endParaRPr lang="en-US" sz="1400" dirty="0"/>
          </a:p>
        </p:txBody>
      </p:sp>
      <p:sp>
        <p:nvSpPr>
          <p:cNvPr id="20" name="Text 18"/>
          <p:cNvSpPr txBox="1"/>
          <p:nvPr/>
        </p:nvSpPr>
        <p:spPr>
          <a:xfrm>
            <a:off x="6217920" y="3200400"/>
            <a:ext cx="2194560" cy="822960"/>
          </a:xfrm>
          <a:prstGeom prst="rect">
            <a:avLst/>
          </a:prstGeom>
          <a:noFill/>
          <a:ln/>
        </p:spPr>
        <p:txBody>
          <a:bodyPr wrap="square" lIns="0" tIns="0" rIns="0" bIns="0" rtlCol="0" anchor="t"/>
          <a:lstStyle/>
          <a:p>
            <a:pPr indent="0" marL="0">
              <a:buNone/>
            </a:pPr>
            <a:r>
              <a:rPr lang="en-US" sz="1400" b="1" dirty="0">
                <a:solidFill>
                  <a:srgbClr val="1F2933"/>
                </a:solidFill>
                <a:latin typeface="Calibri" pitchFamily="34" charset="0"/>
                <a:ea typeface="Calibri" pitchFamily="34" charset="-122"/>
                <a:cs typeface="Calibri" pitchFamily="34" charset="-120"/>
              </a:rPr>
              <a:t>Success: [what they want]</a:t>
            </a:r>
            <a:endParaRPr lang="en-US" sz="1400" dirty="0"/>
          </a:p>
        </p:txBody>
      </p:sp>
      <p:sp>
        <p:nvSpPr>
          <p:cNvPr id="21" name="Text 19"/>
          <p:cNvSpPr txBox="1"/>
          <p:nvPr/>
        </p:nvSpPr>
        <p:spPr>
          <a:xfrm>
            <a:off x="548640" y="4297680"/>
            <a:ext cx="8046720" cy="365760"/>
          </a:xfrm>
          <a:prstGeom prst="rect">
            <a:avLst/>
          </a:prstGeom>
          <a:noFill/>
          <a:ln/>
        </p:spPr>
        <p:txBody>
          <a:bodyPr wrap="square" lIns="0" tIns="0" rIns="0" bIns="0" rtlCol="0" anchor="ctr"/>
          <a:lstStyle/>
          <a:p>
            <a:pPr indent="0" marL="0">
              <a:buNone/>
            </a:pPr>
            <a:r>
              <a:rPr lang="en-US" sz="1600" i="1" dirty="0">
                <a:solidFill>
                  <a:srgbClr val="1F5FBF"/>
                </a:solidFill>
                <a:latin typeface="Calibri" pitchFamily="34" charset="0"/>
                <a:ea typeface="Calibri" pitchFamily="34" charset="-122"/>
                <a:cs typeface="Calibri" pitchFamily="34" charset="-120"/>
              </a:rPr>
              <a:t>Did I get that right? What did I miss?</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What changes for each of you</a:t>
            </a:r>
            <a:endParaRPr lang="en-US" sz="3000" dirty="0"/>
          </a:p>
        </p:txBody>
      </p:sp>
      <p:graphicFrame>
        <p:nvGraphicFramePr>
          <p:cNvPr id="4" name="valuetable"/>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1554480"/>
                <a:gridCol w="1920240"/>
                <a:gridCol w="1920240"/>
                <a:gridCol w="2651760"/>
              </a:tblGrid>
              <a:tr h="411480">
                <a:tc>
                  <a:txBody>
                    <a:bodyPr/>
                    <a:lstStyle/>
                    <a:p>
                      <a:pPr indent="0" marL="0">
                        <a:buNone/>
                      </a:pPr>
                      <a:r>
                        <a:rPr lang="en-US" sz="1300" b="1" dirty="0">
                          <a:solidFill>
                            <a:srgbClr val="FFFFFF"/>
                          </a:solidFill>
                        </a:rPr>
                        <a:t>Who</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indent="0" marL="0">
                        <a:buNone/>
                      </a:pPr>
                      <a:r>
                        <a:rPr lang="en-US" sz="1300" b="1" dirty="0">
                          <a:solidFill>
                            <a:srgbClr val="FFFFFF"/>
                          </a:solidFill>
                        </a:rPr>
                        <a:t>Today</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indent="0" marL="0">
                        <a:buNone/>
                      </a:pPr>
                      <a:r>
                        <a:rPr lang="en-US" sz="1300" b="1" dirty="0">
                          <a:solidFill>
                            <a:srgbClr val="FFFFFF"/>
                          </a:solidFill>
                        </a:rPr>
                        <a:t>With this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indent="0" marL="0">
                        <a:buNone/>
                      </a:pPr>
                      <a:r>
                        <a:rPr lang="en-US" sz="1300" b="1" dirty="0">
                          <a:solidFill>
                            <a:srgbClr val="FFFFFF"/>
                          </a:solidFill>
                        </a:rPr>
                        <a:t>Business value, and how we will know</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r>
              <a:tr h="640080">
                <a:tc>
                  <a:txBody>
                    <a:bodyPr/>
                    <a:lstStyle/>
                    <a:p>
                      <a:pPr indent="0" marL="0">
                        <a:buNone/>
                      </a:pPr>
                      <a:r>
                        <a:rPr lang="en-US" sz="1300" b="1" dirty="0">
                          <a:solidFill>
                            <a:srgbClr val="1F2933"/>
                          </a:solidFill>
                        </a:rPr>
                        <a:t>Executive</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[pain in business terms]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[what is different]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[outcome]: measured by [metric]</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F2933"/>
                          </a:solidFill>
                        </a:rPr>
                        <a:t>Technical leader</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[constraint]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[what is different]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[outcome]: measured by [metric]</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F2933"/>
                          </a:solidFill>
                        </a:rPr>
                        <a:t>Business / analytics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[decision waits]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[what is different]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[outcome]: measured by [metric]</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840480"/>
            <a:ext cx="8046720" cy="457200"/>
          </a:xfrm>
          <a:prstGeom prst="rect">
            <a:avLst/>
          </a:prstGeom>
          <a:noFill/>
          <a:ln/>
        </p:spPr>
        <p:txBody>
          <a:bodyPr wrap="square" lIns="0" tIns="0" rIns="0" bIns="0" rtlCol="0" anchor="ctr"/>
          <a:lstStyle/>
          <a:p>
            <a:pPr indent="0" marL="0">
              <a:buNone/>
            </a:pPr>
            <a:r>
              <a:rPr lang="en-US" sz="1600" b="1" dirty="0">
                <a:solidFill>
                  <a:srgbClr val="1F5FBF"/>
                </a:solidFill>
                <a:latin typeface="Calibri" pitchFamily="34" charset="0"/>
                <a:ea typeface="Calibri" pitchFamily="34" charset="-122"/>
                <a:cs typeface="Calibri" pitchFamily="34" charset="-120"/>
              </a:rPr>
              <a:t>Faster is the means. The value is: [what faster lets the business do].</a:t>
            </a:r>
            <a:endParaRPr lang="en-US" sz="1600" dirty="0"/>
          </a:p>
        </p:txBody>
      </p:sp>
      <p:sp>
        <p:nvSpPr>
          <p:cNvPr id="5" name="Text 2"/>
          <p:cNvSpPr txBox="1"/>
          <p:nvPr/>
        </p:nvSpPr>
        <p:spPr>
          <a:xfrm>
            <a:off x="548640" y="4754880"/>
            <a:ext cx="73152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Targets are agreed with you at the start of the pilot. Figures marked ASSUMPTION are mine.</a:t>
            </a:r>
            <a:endParaRPr lang="en-US" sz="1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How it works, and why each piece matters to you</a:t>
            </a:r>
            <a:endParaRPr lang="en-US" sz="3000" dirty="0"/>
          </a:p>
        </p:txBody>
      </p:sp>
      <p:sp>
        <p:nvSpPr>
          <p:cNvPr id="3" name="flow0"/>
          <p:cNvSpPr/>
          <p:nvPr/>
        </p:nvSpPr>
        <p:spPr>
          <a:xfrm>
            <a:off x="548640" y="1371600"/>
            <a:ext cx="1828800" cy="1188720"/>
          </a:xfrm>
          <a:prstGeom prst="rect">
            <a:avLst/>
          </a:prstGeom>
          <a:solidFill>
            <a:srgbClr val="FFFFFF"/>
          </a:solidFill>
          <a:ln w="19050">
            <a:solidFill>
              <a:srgbClr val="6B7280"/>
            </a:solidFill>
            <a:prstDash val="dash"/>
          </a:ln>
        </p:spPr>
      </p:sp>
      <p:sp>
        <p:nvSpPr>
          <p:cNvPr id="4" name="Text 2"/>
          <p:cNvSpPr txBox="1"/>
          <p:nvPr/>
        </p:nvSpPr>
        <p:spPr>
          <a:xfrm>
            <a:off x="640080" y="1463040"/>
            <a:ext cx="1645920" cy="36576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Sources</a:t>
            </a:r>
            <a:endParaRPr lang="en-US" sz="1500" dirty="0"/>
          </a:p>
        </p:txBody>
      </p:sp>
      <p:sp>
        <p:nvSpPr>
          <p:cNvPr id="5" name="Text 3"/>
          <p:cNvSpPr txBox="1"/>
          <p:nvPr/>
        </p:nvSpPr>
        <p:spPr>
          <a:xfrm>
            <a:off x="640080" y="1874520"/>
            <a:ext cx="1645920" cy="5943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[assumed: e.g. POS, e-commerce, loyalty]</a:t>
            </a:r>
            <a:endParaRPr lang="en-US" sz="1200" dirty="0"/>
          </a:p>
        </p:txBody>
      </p:sp>
      <p:sp>
        <p:nvSpPr>
          <p:cNvPr id="6" name="Text 4"/>
          <p:cNvSpPr txBox="1"/>
          <p:nvPr/>
        </p:nvSpPr>
        <p:spPr>
          <a:xfrm>
            <a:off x="548640" y="2697480"/>
            <a:ext cx="1828800" cy="22860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7" name="Text 5"/>
          <p:cNvSpPr txBox="1"/>
          <p:nvPr/>
        </p:nvSpPr>
        <p:spPr>
          <a:xfrm>
            <a:off x="548640" y="2926080"/>
            <a:ext cx="182880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[problem it solves]</a:t>
            </a:r>
            <a:endParaRPr lang="en-US" sz="1300" dirty="0"/>
          </a:p>
        </p:txBody>
      </p:sp>
      <p:sp>
        <p:nvSpPr>
          <p:cNvPr id="8" name="Text 6"/>
          <p:cNvSpPr txBox="1"/>
          <p:nvPr/>
        </p:nvSpPr>
        <p:spPr>
          <a:xfrm>
            <a:off x="2377440" y="1645920"/>
            <a:ext cx="228600"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9" name="flow1"/>
          <p:cNvSpPr/>
          <p:nvPr/>
        </p:nvSpPr>
        <p:spPr>
          <a:xfrm>
            <a:off x="2606040" y="1371600"/>
            <a:ext cx="1828800" cy="1188720"/>
          </a:xfrm>
          <a:prstGeom prst="rect">
            <a:avLst/>
          </a:prstGeom>
          <a:solidFill>
            <a:srgbClr val="F5F6F8"/>
          </a:solidFill>
          <a:ln w="19050">
            <a:solidFill>
              <a:srgbClr val="1F5FBF"/>
            </a:solidFill>
            <a:prstDash val="solid"/>
          </a:ln>
        </p:spPr>
      </p:sp>
      <p:sp>
        <p:nvSpPr>
          <p:cNvPr id="10" name="Text 8"/>
          <p:cNvSpPr txBox="1"/>
          <p:nvPr/>
        </p:nvSpPr>
        <p:spPr>
          <a:xfrm>
            <a:off x="2697480" y="1463040"/>
            <a:ext cx="1645920" cy="36576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Land and clean</a:t>
            </a:r>
            <a:endParaRPr lang="en-US" sz="1500" dirty="0"/>
          </a:p>
        </p:txBody>
      </p:sp>
      <p:sp>
        <p:nvSpPr>
          <p:cNvPr id="11" name="Text 9"/>
          <p:cNvSpPr txBox="1"/>
          <p:nvPr/>
        </p:nvSpPr>
        <p:spPr>
          <a:xfrm>
            <a:off x="2697480" y="1874520"/>
            <a:ext cx="1645920" cy="5943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[Delta tables, quality checks]</a:t>
            </a:r>
            <a:endParaRPr lang="en-US" sz="1200" dirty="0"/>
          </a:p>
        </p:txBody>
      </p:sp>
      <p:sp>
        <p:nvSpPr>
          <p:cNvPr id="12" name="Text 10"/>
          <p:cNvSpPr txBox="1"/>
          <p:nvPr/>
        </p:nvSpPr>
        <p:spPr>
          <a:xfrm>
            <a:off x="2606040" y="2697480"/>
            <a:ext cx="1828800" cy="22860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13" name="Text 11"/>
          <p:cNvSpPr txBox="1"/>
          <p:nvPr/>
        </p:nvSpPr>
        <p:spPr>
          <a:xfrm>
            <a:off x="2606040" y="2926080"/>
            <a:ext cx="182880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[problem it solves]</a:t>
            </a:r>
            <a:endParaRPr lang="en-US" sz="1300" dirty="0"/>
          </a:p>
        </p:txBody>
      </p:sp>
      <p:sp>
        <p:nvSpPr>
          <p:cNvPr id="14" name="Text 12"/>
          <p:cNvSpPr txBox="1"/>
          <p:nvPr/>
        </p:nvSpPr>
        <p:spPr>
          <a:xfrm>
            <a:off x="4434840" y="1645920"/>
            <a:ext cx="228600"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15" name="flow2"/>
          <p:cNvSpPr/>
          <p:nvPr/>
        </p:nvSpPr>
        <p:spPr>
          <a:xfrm>
            <a:off x="4663440" y="1371600"/>
            <a:ext cx="1828800" cy="1188720"/>
          </a:xfrm>
          <a:prstGeom prst="rect">
            <a:avLst/>
          </a:prstGeom>
          <a:solidFill>
            <a:srgbClr val="F5F6F8"/>
          </a:solidFill>
          <a:ln w="19050">
            <a:solidFill>
              <a:srgbClr val="1F5FBF"/>
            </a:solidFill>
            <a:prstDash val="solid"/>
          </a:ln>
        </p:spPr>
      </p:sp>
      <p:sp>
        <p:nvSpPr>
          <p:cNvPr id="16" name="Text 14"/>
          <p:cNvSpPr txBox="1"/>
          <p:nvPr/>
        </p:nvSpPr>
        <p:spPr>
          <a:xfrm>
            <a:off x="4754880" y="1463040"/>
            <a:ext cx="1645920" cy="36576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Business-ready data</a:t>
            </a:r>
            <a:endParaRPr lang="en-US" sz="1500" dirty="0"/>
          </a:p>
        </p:txBody>
      </p:sp>
      <p:sp>
        <p:nvSpPr>
          <p:cNvPr id="17" name="Text 15"/>
          <p:cNvSpPr txBox="1"/>
          <p:nvPr/>
        </p:nvSpPr>
        <p:spPr>
          <a:xfrm>
            <a:off x="4754880" y="1874520"/>
            <a:ext cx="1645920" cy="5943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[curated, governed]</a:t>
            </a:r>
            <a:endParaRPr lang="en-US" sz="1200" dirty="0"/>
          </a:p>
        </p:txBody>
      </p:sp>
      <p:sp>
        <p:nvSpPr>
          <p:cNvPr id="18" name="Text 16"/>
          <p:cNvSpPr txBox="1"/>
          <p:nvPr/>
        </p:nvSpPr>
        <p:spPr>
          <a:xfrm>
            <a:off x="4663440" y="2697480"/>
            <a:ext cx="1828800" cy="22860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19" name="Text 17"/>
          <p:cNvSpPr txBox="1"/>
          <p:nvPr/>
        </p:nvSpPr>
        <p:spPr>
          <a:xfrm>
            <a:off x="4663440" y="2926080"/>
            <a:ext cx="182880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[problem it solves]</a:t>
            </a:r>
            <a:endParaRPr lang="en-US" sz="1300" dirty="0"/>
          </a:p>
        </p:txBody>
      </p:sp>
      <p:sp>
        <p:nvSpPr>
          <p:cNvPr id="20" name="Text 18"/>
          <p:cNvSpPr txBox="1"/>
          <p:nvPr/>
        </p:nvSpPr>
        <p:spPr>
          <a:xfrm>
            <a:off x="6492240" y="1645920"/>
            <a:ext cx="228600" cy="548640"/>
          </a:xfrm>
          <a:prstGeom prst="rect">
            <a:avLst/>
          </a:prstGeom>
          <a:noFill/>
          <a:ln/>
        </p:spPr>
        <p:txBody>
          <a:bodyPr wrap="square" lIns="0" tIns="0" rIns="0" bIns="0" rtlCol="0" anchor="ctr"/>
          <a:lstStyle/>
          <a:p>
            <a:pPr algn="ctr" indent="0" marL="0">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21" name="flow3"/>
          <p:cNvSpPr/>
          <p:nvPr/>
        </p:nvSpPr>
        <p:spPr>
          <a:xfrm>
            <a:off x="6720840" y="1371600"/>
            <a:ext cx="1828800" cy="1188720"/>
          </a:xfrm>
          <a:prstGeom prst="rect">
            <a:avLst/>
          </a:prstGeom>
          <a:solidFill>
            <a:srgbClr val="F5F6F8"/>
          </a:solidFill>
          <a:ln w="19050">
            <a:solidFill>
              <a:srgbClr val="1F5FBF"/>
            </a:solidFill>
            <a:prstDash val="solid"/>
          </a:ln>
        </p:spPr>
      </p:sp>
      <p:sp>
        <p:nvSpPr>
          <p:cNvPr id="22" name="Text 20"/>
          <p:cNvSpPr txBox="1"/>
          <p:nvPr/>
        </p:nvSpPr>
        <p:spPr>
          <a:xfrm>
            <a:off x="6812280" y="1463040"/>
            <a:ext cx="1645920" cy="36576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What you use</a:t>
            </a:r>
            <a:endParaRPr lang="en-US" sz="1500" dirty="0"/>
          </a:p>
        </p:txBody>
      </p:sp>
      <p:sp>
        <p:nvSpPr>
          <p:cNvPr id="23" name="Text 21"/>
          <p:cNvSpPr txBox="1"/>
          <p:nvPr/>
        </p:nvSpPr>
        <p:spPr>
          <a:xfrm>
            <a:off x="6812280" y="1874520"/>
            <a:ext cx="1645920" cy="5943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[Dashboard / Genie / App]</a:t>
            </a:r>
            <a:endParaRPr lang="en-US" sz="1200" dirty="0"/>
          </a:p>
        </p:txBody>
      </p:sp>
      <p:sp>
        <p:nvSpPr>
          <p:cNvPr id="24" name="Text 22"/>
          <p:cNvSpPr txBox="1"/>
          <p:nvPr/>
        </p:nvSpPr>
        <p:spPr>
          <a:xfrm>
            <a:off x="6720840" y="2697480"/>
            <a:ext cx="1828800" cy="22860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25" name="Text 23"/>
          <p:cNvSpPr txBox="1"/>
          <p:nvPr/>
        </p:nvSpPr>
        <p:spPr>
          <a:xfrm>
            <a:off x="6720840" y="2926080"/>
            <a:ext cx="182880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[problem it solves]</a:t>
            </a:r>
            <a:endParaRPr lang="en-US" sz="1300" dirty="0"/>
          </a:p>
        </p:txBody>
      </p:sp>
      <p:sp>
        <p:nvSpPr>
          <p:cNvPr id="26" name="leg1"/>
          <p:cNvSpPr/>
          <p:nvPr/>
        </p:nvSpPr>
        <p:spPr>
          <a:xfrm>
            <a:off x="548640" y="4023360"/>
            <a:ext cx="228600" cy="228600"/>
          </a:xfrm>
          <a:prstGeom prst="rect">
            <a:avLst/>
          </a:prstGeom>
          <a:solidFill>
            <a:srgbClr val="F5F6F8"/>
          </a:solidFill>
          <a:ln w="19050">
            <a:solidFill>
              <a:srgbClr val="1F5FBF"/>
            </a:solidFill>
            <a:prstDash val="solid"/>
          </a:ln>
        </p:spPr>
      </p:sp>
      <p:sp>
        <p:nvSpPr>
          <p:cNvPr id="27" name="Text 25"/>
          <p:cNvSpPr txBox="1"/>
          <p:nvPr/>
        </p:nvSpPr>
        <p:spPr>
          <a:xfrm>
            <a:off x="914400" y="4005072"/>
            <a:ext cx="2286000" cy="27432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Built and shown today</a:t>
            </a:r>
            <a:endParaRPr lang="en-US" sz="1200" dirty="0"/>
          </a:p>
        </p:txBody>
      </p:sp>
      <p:sp>
        <p:nvSpPr>
          <p:cNvPr id="28" name="leg2"/>
          <p:cNvSpPr/>
          <p:nvPr/>
        </p:nvSpPr>
        <p:spPr>
          <a:xfrm>
            <a:off x="3383280" y="4023360"/>
            <a:ext cx="228600" cy="228600"/>
          </a:xfrm>
          <a:prstGeom prst="rect">
            <a:avLst/>
          </a:prstGeom>
          <a:solidFill>
            <a:srgbClr val="FFFFFF"/>
          </a:solidFill>
          <a:ln w="19050">
            <a:solidFill>
              <a:srgbClr val="6B7280"/>
            </a:solidFill>
            <a:prstDash val="dash"/>
          </a:ln>
        </p:spPr>
      </p:sp>
      <p:sp>
        <p:nvSpPr>
          <p:cNvPr id="29" name="Text 27"/>
          <p:cNvSpPr txBox="1"/>
          <p:nvPr/>
        </p:nvSpPr>
        <p:spPr>
          <a:xfrm>
            <a:off x="3749040" y="4005072"/>
            <a:ext cx="2743200" cy="27432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Assumed or on the roadmap</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A two-week pilot, with a clear path to go-live</a:t>
            </a:r>
            <a:endParaRPr lang="en-US" sz="3000" dirty="0"/>
          </a:p>
        </p:txBody>
      </p:sp>
      <p:sp>
        <p:nvSpPr>
          <p:cNvPr id="3" name="ph0"/>
          <p:cNvSpPr/>
          <p:nvPr/>
        </p:nvSpPr>
        <p:spPr>
          <a:xfrm>
            <a:off x="548640" y="1280160"/>
            <a:ext cx="2560320" cy="2011680"/>
          </a:xfrm>
          <a:prstGeom prst="rect">
            <a:avLst/>
          </a:prstGeom>
          <a:solidFill>
            <a:srgbClr val="FFFFFF"/>
          </a:solidFill>
          <a:ln w="9525">
            <a:solidFill>
              <a:srgbClr val="D9DCE1"/>
            </a:solidFill>
            <a:prstDash val="solid"/>
          </a:ln>
        </p:spPr>
      </p:sp>
      <p:sp>
        <p:nvSpPr>
          <p:cNvPr id="4" name="Shape 2"/>
          <p:cNvSpPr/>
          <p:nvPr/>
        </p:nvSpPr>
        <p:spPr>
          <a:xfrm>
            <a:off x="548640" y="1280160"/>
            <a:ext cx="2560320" cy="0"/>
          </a:xfrm>
          <a:prstGeom prst="line">
            <a:avLst/>
          </a:prstGeom>
          <a:noFill/>
          <a:ln w="38100">
            <a:solidFill>
              <a:srgbClr val="1F5FBF"/>
            </a:solidFill>
            <a:prstDash val="solid"/>
          </a:ln>
        </p:spPr>
      </p:sp>
      <p:sp>
        <p:nvSpPr>
          <p:cNvPr id="5" name="Text 3"/>
          <p:cNvSpPr txBox="1"/>
          <p:nvPr/>
        </p:nvSpPr>
        <p:spPr>
          <a:xfrm>
            <a:off x="731520" y="1417320"/>
            <a:ext cx="2194560" cy="365760"/>
          </a:xfrm>
          <a:prstGeom prst="rect">
            <a:avLst/>
          </a:prstGeom>
          <a:noFill/>
          <a:ln/>
        </p:spPr>
        <p:txBody>
          <a:bodyPr wrap="square" lIns="0" tIns="0" rIns="0" bIns="0" rtlCol="0" anchor="ctr"/>
          <a:lstStyle/>
          <a:p>
            <a:pPr indent="0" marL="0">
              <a:buNone/>
            </a:pPr>
            <a:r>
              <a:rPr lang="en-US" sz="1800" b="1" dirty="0">
                <a:solidFill>
                  <a:srgbClr val="1F5FBF"/>
                </a:solidFill>
                <a:latin typeface="Calibri" pitchFamily="34" charset="0"/>
                <a:ea typeface="Calibri" pitchFamily="34" charset="-122"/>
                <a:cs typeface="Calibri" pitchFamily="34" charset="-120"/>
              </a:rPr>
              <a:t>Pilot</a:t>
            </a:r>
            <a:endParaRPr lang="en-US" sz="1800" dirty="0"/>
          </a:p>
        </p:txBody>
      </p:sp>
      <p:sp>
        <p:nvSpPr>
          <p:cNvPr id="6" name="Text 4"/>
          <p:cNvSpPr txBox="1"/>
          <p:nvPr/>
        </p:nvSpPr>
        <p:spPr>
          <a:xfrm>
            <a:off x="731520" y="1783080"/>
            <a:ext cx="2194560" cy="32004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[Start date] to [+2 weeks]</a:t>
            </a:r>
            <a:endParaRPr lang="en-US" sz="1400" dirty="0"/>
          </a:p>
        </p:txBody>
      </p:sp>
      <p:sp>
        <p:nvSpPr>
          <p:cNvPr id="7" name="Text 5"/>
          <p:cNvSpPr txBox="1"/>
          <p:nvPr/>
        </p:nvSpPr>
        <p:spPr>
          <a:xfrm>
            <a:off x="731520" y="2194560"/>
            <a:ext cx="21945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[One workload, one dataset]</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[Named people on both sides]</a:t>
            </a:r>
            <a:endParaRPr lang="en-US" sz="1300" dirty="0"/>
          </a:p>
        </p:txBody>
      </p:sp>
      <p:sp>
        <p:nvSpPr>
          <p:cNvPr id="8" name="ph1"/>
          <p:cNvSpPr/>
          <p:nvPr/>
        </p:nvSpPr>
        <p:spPr>
          <a:xfrm>
            <a:off x="3291840" y="1280160"/>
            <a:ext cx="2560320" cy="2011680"/>
          </a:xfrm>
          <a:prstGeom prst="rect">
            <a:avLst/>
          </a:prstGeom>
          <a:solidFill>
            <a:srgbClr val="FFFFFF"/>
          </a:solidFill>
          <a:ln w="9525">
            <a:solidFill>
              <a:srgbClr val="D9DCE1"/>
            </a:solidFill>
            <a:prstDash val="solid"/>
          </a:ln>
        </p:spPr>
      </p:sp>
      <p:sp>
        <p:nvSpPr>
          <p:cNvPr id="9" name="Shape 7"/>
          <p:cNvSpPr/>
          <p:nvPr/>
        </p:nvSpPr>
        <p:spPr>
          <a:xfrm>
            <a:off x="3291840" y="1280160"/>
            <a:ext cx="2560320" cy="0"/>
          </a:xfrm>
          <a:prstGeom prst="line">
            <a:avLst/>
          </a:prstGeom>
          <a:noFill/>
          <a:ln w="38100">
            <a:solidFill>
              <a:srgbClr val="1F5FBF"/>
            </a:solidFill>
            <a:prstDash val="solid"/>
          </a:ln>
        </p:spPr>
      </p:sp>
      <p:sp>
        <p:nvSpPr>
          <p:cNvPr id="10" name="Text 8"/>
          <p:cNvSpPr txBox="1"/>
          <p:nvPr/>
        </p:nvSpPr>
        <p:spPr>
          <a:xfrm>
            <a:off x="3474720" y="1417320"/>
            <a:ext cx="2194560" cy="365760"/>
          </a:xfrm>
          <a:prstGeom prst="rect">
            <a:avLst/>
          </a:prstGeom>
          <a:noFill/>
          <a:ln/>
        </p:spPr>
        <p:txBody>
          <a:bodyPr wrap="square" lIns="0" tIns="0" rIns="0" bIns="0" rtlCol="0" anchor="ctr"/>
          <a:lstStyle/>
          <a:p>
            <a:pPr indent="0" marL="0">
              <a:buNone/>
            </a:pPr>
            <a:r>
              <a:rPr lang="en-US" sz="1800" b="1" dirty="0">
                <a:solidFill>
                  <a:srgbClr val="1F5FBF"/>
                </a:solidFill>
                <a:latin typeface="Calibri" pitchFamily="34" charset="0"/>
                <a:ea typeface="Calibri" pitchFamily="34" charset="-122"/>
                <a:cs typeface="Calibri" pitchFamily="34" charset="-120"/>
              </a:rPr>
              <a:t>Adjust</a:t>
            </a:r>
            <a:endParaRPr lang="en-US" sz="1800" dirty="0"/>
          </a:p>
        </p:txBody>
      </p:sp>
      <p:sp>
        <p:nvSpPr>
          <p:cNvPr id="11" name="Text 9"/>
          <p:cNvSpPr txBox="1"/>
          <p:nvPr/>
        </p:nvSpPr>
        <p:spPr>
          <a:xfrm>
            <a:off x="3474720" y="1783080"/>
            <a:ext cx="2194560" cy="32004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[1 week]</a:t>
            </a:r>
            <a:endParaRPr lang="en-US" sz="1400" dirty="0"/>
          </a:p>
        </p:txBody>
      </p:sp>
      <p:sp>
        <p:nvSpPr>
          <p:cNvPr id="12" name="Text 10"/>
          <p:cNvSpPr txBox="1"/>
          <p:nvPr/>
        </p:nvSpPr>
        <p:spPr>
          <a:xfrm>
            <a:off x="3474720" y="2194560"/>
            <a:ext cx="21945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[Tweaks from what we learn]</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[Review against the measure]</a:t>
            </a:r>
            <a:endParaRPr lang="en-US" sz="1300" dirty="0"/>
          </a:p>
        </p:txBody>
      </p:sp>
      <p:sp>
        <p:nvSpPr>
          <p:cNvPr id="13" name="ph2"/>
          <p:cNvSpPr/>
          <p:nvPr/>
        </p:nvSpPr>
        <p:spPr>
          <a:xfrm>
            <a:off x="6035040" y="1280160"/>
            <a:ext cx="2560320" cy="2011680"/>
          </a:xfrm>
          <a:prstGeom prst="rect">
            <a:avLst/>
          </a:prstGeom>
          <a:solidFill>
            <a:srgbClr val="FFFFFF"/>
          </a:solidFill>
          <a:ln w="9525">
            <a:solidFill>
              <a:srgbClr val="D9DCE1"/>
            </a:solidFill>
            <a:prstDash val="solid"/>
          </a:ln>
        </p:spPr>
      </p:sp>
      <p:sp>
        <p:nvSpPr>
          <p:cNvPr id="14" name="Shape 12"/>
          <p:cNvSpPr/>
          <p:nvPr/>
        </p:nvSpPr>
        <p:spPr>
          <a:xfrm>
            <a:off x="6035040" y="1280160"/>
            <a:ext cx="2560320" cy="0"/>
          </a:xfrm>
          <a:prstGeom prst="line">
            <a:avLst/>
          </a:prstGeom>
          <a:noFill/>
          <a:ln w="38100">
            <a:solidFill>
              <a:srgbClr val="1F5FBF"/>
            </a:solidFill>
            <a:prstDash val="solid"/>
          </a:ln>
        </p:spPr>
      </p:sp>
      <p:sp>
        <p:nvSpPr>
          <p:cNvPr id="15" name="Text 13"/>
          <p:cNvSpPr txBox="1"/>
          <p:nvPr/>
        </p:nvSpPr>
        <p:spPr>
          <a:xfrm>
            <a:off x="6217920" y="1417320"/>
            <a:ext cx="2194560" cy="365760"/>
          </a:xfrm>
          <a:prstGeom prst="rect">
            <a:avLst/>
          </a:prstGeom>
          <a:noFill/>
          <a:ln/>
        </p:spPr>
        <p:txBody>
          <a:bodyPr wrap="square" lIns="0" tIns="0" rIns="0" bIns="0" rtlCol="0" anchor="ctr"/>
          <a:lstStyle/>
          <a:p>
            <a:pPr indent="0" marL="0">
              <a:buNone/>
            </a:pPr>
            <a:r>
              <a:rPr lang="en-US" sz="1800" b="1" dirty="0">
                <a:solidFill>
                  <a:srgbClr val="1F5FBF"/>
                </a:solidFill>
                <a:latin typeface="Calibri" pitchFamily="34" charset="0"/>
                <a:ea typeface="Calibri" pitchFamily="34" charset="-122"/>
                <a:cs typeface="Calibri" pitchFamily="34" charset="-120"/>
              </a:rPr>
              <a:t>Go live</a:t>
            </a:r>
            <a:endParaRPr lang="en-US" sz="1800" dirty="0"/>
          </a:p>
        </p:txBody>
      </p:sp>
      <p:sp>
        <p:nvSpPr>
          <p:cNvPr id="16" name="Text 14"/>
          <p:cNvSpPr txBox="1"/>
          <p:nvPr/>
        </p:nvSpPr>
        <p:spPr>
          <a:xfrm>
            <a:off x="6217920" y="1783080"/>
            <a:ext cx="2194560" cy="32004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[Week of Thanksgiving]</a:t>
            </a:r>
            <a:endParaRPr lang="en-US" sz="1400" dirty="0"/>
          </a:p>
        </p:txBody>
      </p:sp>
      <p:sp>
        <p:nvSpPr>
          <p:cNvPr id="17" name="Text 15"/>
          <p:cNvSpPr txBox="1"/>
          <p:nvPr/>
        </p:nvSpPr>
        <p:spPr>
          <a:xfrm>
            <a:off x="6217920" y="2194560"/>
            <a:ext cx="21945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[Rollout to the first teams]</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[Owners and support]</a:t>
            </a:r>
            <a:endParaRPr lang="en-US" sz="1300" dirty="0"/>
          </a:p>
        </p:txBody>
      </p:sp>
      <p:sp>
        <p:nvSpPr>
          <p:cNvPr id="18" name="Text 16"/>
          <p:cNvSpPr txBox="1"/>
          <p:nvPr/>
        </p:nvSpPr>
        <p:spPr>
          <a:xfrm>
            <a:off x="548640" y="3520440"/>
            <a:ext cx="804672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Success at day 14: [measure 1]  |  [measure 2]  |  [measure 3]</a:t>
            </a:r>
            <a:endParaRPr lang="en-US" sz="1500" dirty="0"/>
          </a:p>
        </p:txBody>
      </p:sp>
      <p:sp>
        <p:nvSpPr>
          <p:cNvPr id="19" name="Text 17"/>
          <p:cNvSpPr txBox="1"/>
          <p:nvPr/>
        </p:nvSpPr>
        <p:spPr>
          <a:xfrm>
            <a:off x="548640" y="3977640"/>
            <a:ext cx="804672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What I need from you: [data access]  |  [two named people]  |  [a decision date]</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Next steps</a:t>
            </a:r>
            <a:endParaRPr lang="en-US" sz="3000" dirty="0"/>
          </a:p>
        </p:txBody>
      </p:sp>
      <p:sp>
        <p:nvSpPr>
          <p:cNvPr id="3" name="Shape 1"/>
          <p:cNvSpPr/>
          <p:nvPr/>
        </p:nvSpPr>
        <p:spPr>
          <a:xfrm>
            <a:off x="548640" y="1097280"/>
            <a:ext cx="1097280" cy="0"/>
          </a:xfrm>
          <a:prstGeom prst="line">
            <a:avLst/>
          </a:prstGeom>
          <a:noFill/>
          <a:ln w="25400">
            <a:solidFill>
              <a:srgbClr val="1F5FBF"/>
            </a:solidFill>
            <a:prstDash val="solid"/>
          </a:ln>
        </p:spPr>
      </p:sp>
      <p:sp>
        <p:nvSpPr>
          <p:cNvPr id="4" name="ns0"/>
          <p:cNvSpPr/>
          <p:nvPr/>
        </p:nvSpPr>
        <p:spPr>
          <a:xfrm>
            <a:off x="548640" y="1371600"/>
            <a:ext cx="8046720" cy="566928"/>
          </a:xfrm>
          <a:prstGeom prst="rect">
            <a:avLst/>
          </a:prstGeom>
          <a:solidFill>
            <a:srgbClr val="FFFFFF"/>
          </a:solidFill>
          <a:ln w="9525">
            <a:solidFill>
              <a:srgbClr val="D9DCE1"/>
            </a:solidFill>
            <a:prstDash val="solid"/>
          </a:ln>
        </p:spPr>
      </p:sp>
      <p:sp>
        <p:nvSpPr>
          <p:cNvPr id="5" name="Text 3"/>
          <p:cNvSpPr txBox="1"/>
          <p:nvPr/>
        </p:nvSpPr>
        <p:spPr>
          <a:xfrm>
            <a:off x="731520" y="1371600"/>
            <a:ext cx="2011680" cy="566928"/>
          </a:xfrm>
          <a:prstGeom prst="rect">
            <a:avLst/>
          </a:prstGeom>
          <a:noFill/>
          <a:ln/>
        </p:spPr>
        <p:txBody>
          <a:bodyPr wrap="square" lIns="0" tIns="0" rIns="0" bIns="0" rtlCol="0" anchor="ctr"/>
          <a:lstStyle/>
          <a:p>
            <a:pPr indent="0" marL="0">
              <a:buNone/>
            </a:pPr>
            <a:r>
              <a:rPr lang="en-US" sz="1500" b="1" dirty="0">
                <a:solidFill>
                  <a:srgbClr val="1F5FBF"/>
                </a:solidFill>
                <a:latin typeface="Calibri" pitchFamily="34" charset="0"/>
                <a:ea typeface="Calibri" pitchFamily="34" charset="-122"/>
                <a:cs typeface="Calibri" pitchFamily="34" charset="-120"/>
              </a:rPr>
              <a:t>[Date]</a:t>
            </a:r>
            <a:endParaRPr lang="en-US" sz="1500" dirty="0"/>
          </a:p>
        </p:txBody>
      </p:sp>
      <p:sp>
        <p:nvSpPr>
          <p:cNvPr id="6" name="Text 4"/>
          <p:cNvSpPr txBox="1"/>
          <p:nvPr/>
        </p:nvSpPr>
        <p:spPr>
          <a:xfrm>
            <a:off x="2834640" y="1371600"/>
            <a:ext cx="2560320" cy="566928"/>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Pilot kickoff</a:t>
            </a:r>
            <a:endParaRPr lang="en-US" sz="1500" dirty="0"/>
          </a:p>
        </p:txBody>
      </p:sp>
      <p:sp>
        <p:nvSpPr>
          <p:cNvPr id="7" name="Text 5"/>
          <p:cNvSpPr txBox="1"/>
          <p:nvPr/>
        </p:nvSpPr>
        <p:spPr>
          <a:xfrm>
            <a:off x="5486400" y="1371600"/>
            <a:ext cx="2926080" cy="56692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[Owner on both sides]</a:t>
            </a:r>
            <a:endParaRPr lang="en-US" sz="1300" dirty="0"/>
          </a:p>
        </p:txBody>
      </p:sp>
      <p:sp>
        <p:nvSpPr>
          <p:cNvPr id="8" name="ns1"/>
          <p:cNvSpPr/>
          <p:nvPr/>
        </p:nvSpPr>
        <p:spPr>
          <a:xfrm>
            <a:off x="548640" y="2057400"/>
            <a:ext cx="8046720" cy="566928"/>
          </a:xfrm>
          <a:prstGeom prst="rect">
            <a:avLst/>
          </a:prstGeom>
          <a:solidFill>
            <a:srgbClr val="FFFFFF"/>
          </a:solidFill>
          <a:ln w="9525">
            <a:solidFill>
              <a:srgbClr val="D9DCE1"/>
            </a:solidFill>
            <a:prstDash val="solid"/>
          </a:ln>
        </p:spPr>
      </p:sp>
      <p:sp>
        <p:nvSpPr>
          <p:cNvPr id="9" name="Text 7"/>
          <p:cNvSpPr txBox="1"/>
          <p:nvPr/>
        </p:nvSpPr>
        <p:spPr>
          <a:xfrm>
            <a:off x="731520" y="2057400"/>
            <a:ext cx="2011680" cy="566928"/>
          </a:xfrm>
          <a:prstGeom prst="rect">
            <a:avLst/>
          </a:prstGeom>
          <a:noFill/>
          <a:ln/>
        </p:spPr>
        <p:txBody>
          <a:bodyPr wrap="square" lIns="0" tIns="0" rIns="0" bIns="0" rtlCol="0" anchor="ctr"/>
          <a:lstStyle/>
          <a:p>
            <a:pPr indent="0" marL="0">
              <a:buNone/>
            </a:pPr>
            <a:r>
              <a:rPr lang="en-US" sz="1500" b="1" dirty="0">
                <a:solidFill>
                  <a:srgbClr val="1F5FBF"/>
                </a:solidFill>
                <a:latin typeface="Calibri" pitchFamily="34" charset="0"/>
                <a:ea typeface="Calibri" pitchFamily="34" charset="-122"/>
                <a:cs typeface="Calibri" pitchFamily="34" charset="-120"/>
              </a:rPr>
              <a:t>[Date + 2 wks]</a:t>
            </a:r>
            <a:endParaRPr lang="en-US" sz="1500" dirty="0"/>
          </a:p>
        </p:txBody>
      </p:sp>
      <p:sp>
        <p:nvSpPr>
          <p:cNvPr id="10" name="Text 8"/>
          <p:cNvSpPr txBox="1"/>
          <p:nvPr/>
        </p:nvSpPr>
        <p:spPr>
          <a:xfrm>
            <a:off x="2834640" y="2057400"/>
            <a:ext cx="2560320" cy="566928"/>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Day-14 review</a:t>
            </a:r>
            <a:endParaRPr lang="en-US" sz="1500" dirty="0"/>
          </a:p>
        </p:txBody>
      </p:sp>
      <p:sp>
        <p:nvSpPr>
          <p:cNvPr id="11" name="Text 9"/>
          <p:cNvSpPr txBox="1"/>
          <p:nvPr/>
        </p:nvSpPr>
        <p:spPr>
          <a:xfrm>
            <a:off x="5486400" y="2057400"/>
            <a:ext cx="2926080" cy="56692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Against the measures on slide 3</a:t>
            </a:r>
            <a:endParaRPr lang="en-US" sz="1300" dirty="0"/>
          </a:p>
        </p:txBody>
      </p:sp>
      <p:sp>
        <p:nvSpPr>
          <p:cNvPr id="12" name="ns2"/>
          <p:cNvSpPr/>
          <p:nvPr/>
        </p:nvSpPr>
        <p:spPr>
          <a:xfrm>
            <a:off x="548640" y="2743200"/>
            <a:ext cx="8046720" cy="566928"/>
          </a:xfrm>
          <a:prstGeom prst="rect">
            <a:avLst/>
          </a:prstGeom>
          <a:solidFill>
            <a:srgbClr val="FFFFFF"/>
          </a:solidFill>
          <a:ln w="9525">
            <a:solidFill>
              <a:srgbClr val="D9DCE1"/>
            </a:solidFill>
            <a:prstDash val="solid"/>
          </a:ln>
        </p:spPr>
      </p:sp>
      <p:sp>
        <p:nvSpPr>
          <p:cNvPr id="13" name="Text 11"/>
          <p:cNvSpPr txBox="1"/>
          <p:nvPr/>
        </p:nvSpPr>
        <p:spPr>
          <a:xfrm>
            <a:off x="731520" y="2743200"/>
            <a:ext cx="2011680" cy="566928"/>
          </a:xfrm>
          <a:prstGeom prst="rect">
            <a:avLst/>
          </a:prstGeom>
          <a:noFill/>
          <a:ln/>
        </p:spPr>
        <p:txBody>
          <a:bodyPr wrap="square" lIns="0" tIns="0" rIns="0" bIns="0" rtlCol="0" anchor="ctr"/>
          <a:lstStyle/>
          <a:p>
            <a:pPr indent="0" marL="0">
              <a:buNone/>
            </a:pPr>
            <a:r>
              <a:rPr lang="en-US" sz="1500" b="1" dirty="0">
                <a:solidFill>
                  <a:srgbClr val="1F5FBF"/>
                </a:solidFill>
                <a:latin typeface="Calibri" pitchFamily="34" charset="0"/>
                <a:ea typeface="Calibri" pitchFamily="34" charset="-122"/>
                <a:cs typeface="Calibri" pitchFamily="34" charset="-120"/>
              </a:rPr>
              <a:t>[Date]</a:t>
            </a:r>
            <a:endParaRPr lang="en-US" sz="1500" dirty="0"/>
          </a:p>
        </p:txBody>
      </p:sp>
      <p:sp>
        <p:nvSpPr>
          <p:cNvPr id="14" name="Text 12"/>
          <p:cNvSpPr txBox="1"/>
          <p:nvPr/>
        </p:nvSpPr>
        <p:spPr>
          <a:xfrm>
            <a:off x="2834640" y="2743200"/>
            <a:ext cx="2560320" cy="566928"/>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Adjustment complete</a:t>
            </a:r>
            <a:endParaRPr lang="en-US" sz="1500" dirty="0"/>
          </a:p>
        </p:txBody>
      </p:sp>
      <p:sp>
        <p:nvSpPr>
          <p:cNvPr id="15" name="Text 13"/>
          <p:cNvSpPr txBox="1"/>
          <p:nvPr/>
        </p:nvSpPr>
        <p:spPr>
          <a:xfrm>
            <a:off x="5486400" y="2743200"/>
            <a:ext cx="2926080" cy="56692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Decision to go live</a:t>
            </a:r>
            <a:endParaRPr lang="en-US" sz="1300" dirty="0"/>
          </a:p>
        </p:txBody>
      </p:sp>
      <p:sp>
        <p:nvSpPr>
          <p:cNvPr id="16" name="ns3"/>
          <p:cNvSpPr/>
          <p:nvPr/>
        </p:nvSpPr>
        <p:spPr>
          <a:xfrm>
            <a:off x="548640" y="3429000"/>
            <a:ext cx="8046720" cy="566928"/>
          </a:xfrm>
          <a:prstGeom prst="rect">
            <a:avLst/>
          </a:prstGeom>
          <a:solidFill>
            <a:srgbClr val="FFFFFF"/>
          </a:solidFill>
          <a:ln w="9525">
            <a:solidFill>
              <a:srgbClr val="D9DCE1"/>
            </a:solidFill>
            <a:prstDash val="solid"/>
          </a:ln>
        </p:spPr>
      </p:sp>
      <p:sp>
        <p:nvSpPr>
          <p:cNvPr id="17" name="Text 15"/>
          <p:cNvSpPr txBox="1"/>
          <p:nvPr/>
        </p:nvSpPr>
        <p:spPr>
          <a:xfrm>
            <a:off x="731520" y="3429000"/>
            <a:ext cx="2011680" cy="566928"/>
          </a:xfrm>
          <a:prstGeom prst="rect">
            <a:avLst/>
          </a:prstGeom>
          <a:noFill/>
          <a:ln/>
        </p:spPr>
        <p:txBody>
          <a:bodyPr wrap="square" lIns="0" tIns="0" rIns="0" bIns="0" rtlCol="0" anchor="ctr"/>
          <a:lstStyle/>
          <a:p>
            <a:pPr indent="0" marL="0">
              <a:buNone/>
            </a:pPr>
            <a:r>
              <a:rPr lang="en-US" sz="1500" b="1" dirty="0">
                <a:solidFill>
                  <a:srgbClr val="1F5FBF"/>
                </a:solidFill>
                <a:latin typeface="Calibri" pitchFamily="34" charset="0"/>
                <a:ea typeface="Calibri" pitchFamily="34" charset="-122"/>
                <a:cs typeface="Calibri" pitchFamily="34" charset="-120"/>
              </a:rPr>
              <a:t>[Week of Thanksgiving]</a:t>
            </a:r>
            <a:endParaRPr lang="en-US" sz="1500" dirty="0"/>
          </a:p>
        </p:txBody>
      </p:sp>
      <p:sp>
        <p:nvSpPr>
          <p:cNvPr id="18" name="Text 16"/>
          <p:cNvSpPr txBox="1"/>
          <p:nvPr/>
        </p:nvSpPr>
        <p:spPr>
          <a:xfrm>
            <a:off x="2834640" y="3429000"/>
            <a:ext cx="2560320" cy="566928"/>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Go live</a:t>
            </a:r>
            <a:endParaRPr lang="en-US" sz="1500" dirty="0"/>
          </a:p>
        </p:txBody>
      </p:sp>
      <p:sp>
        <p:nvSpPr>
          <p:cNvPr id="19" name="Text 17"/>
          <p:cNvSpPr txBox="1"/>
          <p:nvPr/>
        </p:nvSpPr>
        <p:spPr>
          <a:xfrm>
            <a:off x="5486400" y="3429000"/>
            <a:ext cx="2926080" cy="566928"/>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[First teams]</a:t>
            </a:r>
            <a:endParaRPr lang="en-US" sz="1300" dirty="0"/>
          </a:p>
        </p:txBody>
      </p:sp>
      <p:sp>
        <p:nvSpPr>
          <p:cNvPr id="20" name="Text 18"/>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600" i="1" dirty="0">
                <a:solidFill>
                  <a:srgbClr val="1F5FBF"/>
                </a:solidFill>
                <a:latin typeface="Calibri" pitchFamily="34" charset="0"/>
                <a:ea typeface="Calibri" pitchFamily="34" charset="-122"/>
                <a:cs typeface="Calibri" pitchFamily="34" charset="-120"/>
              </a:rPr>
              <a:t>Anything that would stop us starting on [date]?</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assumptions I made, and why</a:t>
            </a:r>
            <a:endParaRPr lang="en-US" sz="3000" dirty="0"/>
          </a:p>
        </p:txBody>
      </p:sp>
      <p:graphicFrame>
        <p:nvGraphicFramePr>
          <p:cNvPr id="8" name="assume"/>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2926080"/>
                <a:gridCol w="2560320"/>
                <a:gridCol w="2560320"/>
              </a:tblGrid>
              <a:tr h="411480">
                <a:tc>
                  <a:txBody>
                    <a:bodyPr/>
                    <a:lstStyle/>
                    <a:p>
                      <a:pPr indent="0" marL="0">
                        <a:buNone/>
                      </a:pPr>
                      <a:r>
                        <a:rPr lang="en-US" sz="1300" b="1" dirty="0">
                          <a:solidFill>
                            <a:srgbClr val="FFFFFF"/>
                          </a:solidFill>
                        </a:rPr>
                        <a:t>Assumption</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indent="0" marL="0">
                        <a:buNone/>
                      </a:pPr>
                      <a:r>
                        <a:rPr lang="en-US" sz="1300" b="1" dirty="0">
                          <a:solidFill>
                            <a:srgbClr val="FFFFFF"/>
                          </a:solidFill>
                        </a:rPr>
                        <a:t>Why it is reasonable</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indent="0" marL="0">
                        <a:buNone/>
                      </a:pPr>
                      <a:r>
                        <a:rPr lang="en-US" sz="1300" b="1" dirty="0">
                          <a:solidFill>
                            <a:srgbClr val="FFFFFF"/>
                          </a:solidFill>
                        </a:rPr>
                        <a:t>What changes if wrong</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r>
              <a:tr h="640080">
                <a:tc>
                  <a:txBody>
                    <a:bodyPr/>
                    <a:lstStyle/>
                    <a:p>
                      <a:pPr indent="0" marL="0">
                        <a:buNone/>
                      </a:pPr>
                      <a:r>
                        <a:rPr lang="en-US" sz="1300" dirty="0">
                          <a:solidFill>
                            <a:srgbClr val="1F2933"/>
                          </a:solidFill>
                        </a:rPr>
                        <a:t>[Source systems land files in cloud storage]</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[Common pattern]</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[Add a connector, same design]</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F2933"/>
                          </a:solidFill>
                        </a:rPr>
                        <a:t>[SaaS data stands in as sample files]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[Placeholder for the real feed]</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[Swap the source, nothing else]</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F2933"/>
                          </a:solidFill>
                        </a:rPr>
                        <a:t>[Dataset is synthetic, shaped like retail]</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[No customer data used]</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F2933"/>
                          </a:solidFill>
                        </a:rPr>
                        <a:t>[Re-run on real data in the pilot]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architecture detail</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architecture diagram image]</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data model</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data model image]</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screenshot 1</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screenshot 1: see the screenshots checklist]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screenshot 2</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screenshot 2: see the screenshots checklist]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screenshot 3</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screenshot 3: see the screenshots checklist]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screenshot 4</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screenshot 4: see the screenshots checklist]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Backup: how this was built (for the debrief)</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sp>
      <p:sp>
        <p:nvSpPr>
          <p:cNvPr id="4" name="Text 2"/>
          <p:cNvSpPr txBox="1"/>
          <p:nvPr/>
        </p:nvSpPr>
        <p:spPr>
          <a:xfrm>
            <a:off x="548640" y="1188720"/>
            <a:ext cx="8046720" cy="338328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[Insert toolchain diagram: Claude Code, Databricks CLI, Databricks, Git]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resales White">
  <a:themeElements>
    <a:clrScheme name="Presales White">
      <a:dk1>
        <a:srgbClr val="1F2933"/>
      </a:dk1>
      <a:lt1>
        <a:srgbClr val="FFFFFF"/>
      </a:lt1>
      <a:dk2>
        <a:srgbClr val="1F2933"/>
      </a:dk2>
      <a:lt2>
        <a:srgbClr val="F5F6F8"/>
      </a:lt2>
      <a:accent1>
        <a:srgbClr val="1F5FBF"/>
      </a:accent1>
      <a:accent2>
        <a:srgbClr val="6B7280"/>
      </a:accent2>
      <a:accent3>
        <a:srgbClr val="1F5FBF"/>
      </a:accent3>
      <a:accent4>
        <a:srgbClr val="6B7280"/>
      </a:accent4>
      <a:accent5>
        <a:srgbClr val="1F5FBF"/>
      </a:accent5>
      <a:accent6>
        <a:srgbClr val="6B7280"/>
      </a:accent6>
      <a:hlink>
        <a:srgbClr val="1F5FBF"/>
      </a:hlink>
      <a:folHlink>
        <a:srgbClr val="6B7280"/>
      </a:folHlink>
    </a:clrScheme>
    <a:fontScheme name="Presales Whi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Pre-sales Customer Meeting Template v3</dc:title>
  <dc:subject>PptxGenJS Presentation</dc:subject>
  <dc:creator>PptxGenJS</dc:creator>
  <cp:lastModifiedBy>PptxGenJS</cp:lastModifiedBy>
  <cp:revision>1</cp:revision>
  <dcterms:created xsi:type="dcterms:W3CDTF">2026-10-20T19:41:12Z</dcterms:created>
  <dcterms:modified xsi:type="dcterms:W3CDTF">2026-10-20T19:41:12Z</dcterms:modified>
</cp:coreProperties>
</file>