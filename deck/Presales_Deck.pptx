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66" r:id="rId14"/>
    <p:sldId id="267" r:id="rId15"/>
    <p:sldId id="268" r:id="rId16"/>
    <p:sldId id="269"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901"/>
    <p:restoredTop sz="81778"/>
  </p:normalViewPr>
  <p:slideViewPr>
    <p:cSldViewPr snapToGrid="0" snapToObjects="1">
      <p:cViewPr>
        <p:scale>
          <a:sx n="125" d="100"/>
          <a:sy n="125" d="100"/>
        </p:scale>
        <p:origin x="6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3219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0:02-0:03 | set the frame
OPEN: "Thank you for the time. Here is what I would like us to leave with today" (read the three cards, one breath each).
ASK: "Is that the right outcome for the hour?"
AVOID: no company history, no feature list, no agenda of slides.
BRIDGE: "Before I show anything, I want to confirm I understood each of you."
CLOCK: whole meeting is 45 min role-play + 15 min debrief. Plan 25 min of content; questions will fill the rest.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0:03-0:08 (allow up to 10) | discovery validation, person by person
OPEN: confirm each role out loud: "You are the [role], correct?" then read "what I heard" from the prompt notes, using THEIR words.
ASK each persona one open question: executive = "what would make this a win for you in a quarter?"; technical = "what is the constraint I should design around?"; business = "which decision waits on this data today?"
LISTEN FOR: new facts, emotion, a number, a deadline. Write them on the slide or on paper.
BRIDGE: "Thank you. Here is how that changes what we measure." (go to slide 3)
AVOID: do not correct them, do not start solving, do not read the slide.
IF THEY TALK LONG: good. Protect this slide; cut slide 3 depth instead.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0:08-0:11 | translate technical into business value
OPEN: "Based on what you told me, this is how I would measure success." Walk the table by persona, one line each.
KEY LINE: "Faster is the means. The value is [x]." (for each persona finish the sentence: faster -&gt; fewer stockouts / quicker decisions / less manual work / more visibility).
ASK: "Which of these would you change?" Let them rewrite a cell.
AVOID: NO cost, pricing or TCO talk (they said it is out of scope). Value is outcomes: revenue protected, decisions sooner, risk reduced, time returned.
BRIDGE: "Let me show you what that looks like on data shaped like yours." (go to the demo)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0:11-0:12, then LIVE DEMO until about 0:21 | solution map, then jump to the demo
OPEN: "Quick map so you know what is real today and what is assumed." Solid = built; dashed = assumed (say what you assumed and why, e.g. 'I assumed your store systems land files in cloud storage').
EVERY box: say the business problem it solves in one sentence; if a box has no stated problem, do not mention it.
ASK: "Does anything here worry you?"
THEN DEMO (jump back and forth): show only the screens that answer the persona questions from slide 2. One business question per screen. Say the business answer first, then how.
AVOID: no tour of notebooks, no 'how Genie works', no feature you cannot tie to a stated problem (the work-truck-with-a-Bose-stereo trap).
DEMO ORDER: 1 the target artifact answering the executive's question, 2 the technical leader's concern (freshness, governance, reliability), 3 the business leader's self-service question (Genie or the prompt library).
IF IT BREAKS: "Let me show you the screenshot" (backup slides); keep talking.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about 0:21-0:24 | the journey
OPEN: "Here is how we get from today to value, without a big bang." Walk the three blocks with REAL dates counted from the interview date.
DATE RULE: pilot starts the Monday after the meeting (or the date they give), runs 2 weeks, 1 adjustment week, go-live the week of Thanksgiving (US: 4th Thursday of November). Check the calendar: do not state an impossible date.
ASK: "Who on your side would own the pilot?" (get a name)
LISTEN FOR: constraints on timing, approvals, a blocker you can pre-empt.
AVOID: no price, no cost, no commercial terms; if asked: "Commercial terms follow the pilot; today I want to confirm the value."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about 0:24-0:27 (use whenever the conversation reaches it; latest start 0:38) | assumptive close
OPEN: "So here is what I propose: we kick off on [date]." State dates as already agreed, not as a question ("we start on", not "would you like to").
ASK: "Anything that would stop us starting on [date]?" Then be quiet; let them answer.
HANDLE: objection -&gt; acknowledge, ask what is behind it, reframe to the business outcome, offer a smaller step (a one-workload pilot).
CLOSE: read back the names and dates; thank each person by name; ask "what did I miss?".
AVOID: do not open new topics in the last five minutes; no price talk.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when asked 'what did you assume?'. They said assumptions will not be challenged, but you must explain them and why they are reasonable. Say what you stood in for and what would change if it is different.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the technical leader asks how the pieces fit. Mark built vs assumed.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Use if asked about tables or grain. State the grain of each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474E-3917-9937-FC79-128C628D88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06609-3944-9F1E-FF74-2D6352B6F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F0E3AC-964C-E796-5DF0-ACCC59909D29}"/>
              </a:ext>
            </a:extLst>
          </p:cNvPr>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a:extLst>
              <a:ext uri="{FF2B5EF4-FFF2-40B4-BE49-F238E27FC236}">
                <a16:creationId xmlns:a16="http://schemas.microsoft.com/office/drawing/2014/main" id="{0EFBEC6A-0003-5F0D-8456-3DC09330A6D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15464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5EE5D-A3FB-924F-1D1B-516B947E7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22CB07-5430-CC76-5423-39E8BEA20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D9DC72-E512-DB72-115E-ED947A03EB54}"/>
              </a:ext>
            </a:extLst>
          </p:cNvPr>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a:extLst>
              <a:ext uri="{FF2B5EF4-FFF2-40B4-BE49-F238E27FC236}">
                <a16:creationId xmlns:a16="http://schemas.microsoft.com/office/drawing/2014/main" id="{09E1CCC5-7931-A340-BEE0-CBB75F7F8F5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5041593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Fallback if the live demo fails. Say what it proves in one sentence.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(hidden). For the 15-minute debrief only. Say: tools used, what you checked in AI output, what you assumed, what you would do next.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HITE">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rtlCol="0"/>
          <a:lstStyle>
            <a:lvl1pPr marL="0" indent="0" algn="l">
              <a:buNone/>
              <a:defRPr lang="en-US" sz="3000" b="1" dirty="0">
                <a:solidFill>
                  <a:srgbClr val="1F2933"/>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Birchwood Retail Group: Plan the next peak with one trusted view</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txBody>
          <a:bodyPr/>
          <a:lstStyle/>
          <a:p>
            <a:endParaRPr/>
          </a:p>
        </p:txBody>
      </p:sp>
      <p:sp>
        <p:nvSpPr>
          <p:cNvPr id="4" name="Text 2"/>
          <p:cNvSpPr txBox="1"/>
          <p:nvPr/>
        </p:nvSpPr>
        <p:spPr>
          <a:xfrm>
            <a:off x="548640" y="1280160"/>
            <a:ext cx="8046720" cy="365760"/>
          </a:xfrm>
          <a:prstGeom prst="rect">
            <a:avLst/>
          </a:prstGeom>
          <a:noFill/>
          <a:ln/>
        </p:spPr>
        <p:txBody>
          <a:bodyPr wrap="square" lIns="0" tIns="0" rIns="0" bIns="0" rtlCol="0" anchor="ctr"/>
          <a:lstStyle/>
          <a:p>
            <a:pPr marL="0" indent="0">
              <a:buNone/>
            </a:pPr>
            <a:r>
              <a:rPr lang="en-US" sz="1800" dirty="0">
                <a:solidFill>
                  <a:srgbClr val="6B7280"/>
                </a:solidFill>
                <a:latin typeface="Calibri" pitchFamily="34" charset="0"/>
                <a:ea typeface="Calibri" pitchFamily="34" charset="-122"/>
                <a:cs typeface="Calibri" pitchFamily="34" charset="-120"/>
              </a:rPr>
              <a:t>By the end of this meeting you will have seen:</a:t>
            </a:r>
            <a:endParaRPr lang="en-US" sz="1800" dirty="0"/>
          </a:p>
        </p:txBody>
      </p:sp>
      <p:sp>
        <p:nvSpPr>
          <p:cNvPr id="5" name="out0"/>
          <p:cNvSpPr/>
          <p:nvPr/>
        </p:nvSpPr>
        <p:spPr>
          <a:xfrm>
            <a:off x="548640" y="1828800"/>
            <a:ext cx="2560320" cy="2103120"/>
          </a:xfrm>
          <a:prstGeom prst="rect">
            <a:avLst/>
          </a:prstGeom>
          <a:solidFill>
            <a:srgbClr val="FFFFFF"/>
          </a:solidFill>
          <a:ln w="9525">
            <a:solidFill>
              <a:srgbClr val="D9DCE1"/>
            </a:solidFill>
            <a:prstDash val="solid"/>
          </a:ln>
        </p:spPr>
        <p:txBody>
          <a:bodyPr/>
          <a:lstStyle/>
          <a:p>
            <a:endParaRPr/>
          </a:p>
        </p:txBody>
      </p:sp>
      <p:sp>
        <p:nvSpPr>
          <p:cNvPr id="6" name="Text 4"/>
          <p:cNvSpPr txBox="1"/>
          <p:nvPr/>
        </p:nvSpPr>
        <p:spPr>
          <a:xfrm>
            <a:off x="777240" y="2011680"/>
            <a:ext cx="548640" cy="548640"/>
          </a:xfrm>
          <a:prstGeom prst="rect">
            <a:avLst/>
          </a:prstGeom>
          <a:noFill/>
          <a:ln/>
        </p:spPr>
        <p:txBody>
          <a:bodyPr wrap="square" lIns="0" tIns="0" rIns="0" bIns="0" rtlCol="0" anchor="ctr"/>
          <a:lstStyle/>
          <a:p>
            <a:pPr marL="0" indent="0">
              <a:buNone/>
            </a:pPr>
            <a:r>
              <a:rPr lang="en-US" sz="3200" b="1" dirty="0">
                <a:solidFill>
                  <a:srgbClr val="1F5FBF"/>
                </a:solidFill>
                <a:latin typeface="Calibri" pitchFamily="34" charset="0"/>
                <a:ea typeface="Calibri" pitchFamily="34" charset="-122"/>
                <a:cs typeface="Calibri" pitchFamily="34" charset="-120"/>
              </a:rPr>
              <a:t>1</a:t>
            </a:r>
            <a:endParaRPr lang="en-US" sz="3200" dirty="0"/>
          </a:p>
        </p:txBody>
      </p:sp>
      <p:sp>
        <p:nvSpPr>
          <p:cNvPr id="7" name="Text 5"/>
          <p:cNvSpPr txBox="1"/>
          <p:nvPr/>
        </p:nvSpPr>
        <p:spPr>
          <a:xfrm>
            <a:off x="777240" y="2697480"/>
            <a:ext cx="2148840" cy="548640"/>
          </a:xfrm>
          <a:prstGeom prst="rect">
            <a:avLst/>
          </a:prstGeom>
          <a:noFill/>
          <a:ln/>
        </p:spPr>
        <p:txBody>
          <a:bodyPr wrap="square" lIns="0" tIns="0" rIns="0" bIns="0" rtlCol="0" anchor="t"/>
          <a:lstStyle/>
          <a:p>
            <a:pPr marL="0" indent="0">
              <a:buNone/>
            </a:pPr>
            <a:r>
              <a:rPr lang="en-US" sz="1700" b="1" dirty="0">
                <a:solidFill>
                  <a:srgbClr val="1F2933"/>
                </a:solidFill>
                <a:latin typeface="Calibri" pitchFamily="34" charset="0"/>
                <a:ea typeface="Calibri" pitchFamily="34" charset="-122"/>
                <a:cs typeface="Calibri" pitchFamily="34" charset="-120"/>
              </a:rPr>
              <a:t>Your situation, as I understood it</a:t>
            </a:r>
            <a:endParaRPr lang="en-US" sz="1700" dirty="0"/>
          </a:p>
        </p:txBody>
      </p:sp>
      <p:sp>
        <p:nvSpPr>
          <p:cNvPr id="8" name="Text 6"/>
          <p:cNvSpPr txBox="1"/>
          <p:nvPr/>
        </p:nvSpPr>
        <p:spPr>
          <a:xfrm>
            <a:off x="777240" y="3246120"/>
            <a:ext cx="2148840" cy="6400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Confirmed with each of you first.</a:t>
            </a:r>
            <a:endParaRPr lang="en-US" sz="1400" dirty="0"/>
          </a:p>
        </p:txBody>
      </p:sp>
      <p:sp>
        <p:nvSpPr>
          <p:cNvPr id="9" name="out1"/>
          <p:cNvSpPr/>
          <p:nvPr/>
        </p:nvSpPr>
        <p:spPr>
          <a:xfrm>
            <a:off x="3291840" y="1828800"/>
            <a:ext cx="2560320" cy="2103120"/>
          </a:xfrm>
          <a:prstGeom prst="rect">
            <a:avLst/>
          </a:prstGeom>
          <a:solidFill>
            <a:srgbClr val="FFFFFF"/>
          </a:solidFill>
          <a:ln w="9525">
            <a:solidFill>
              <a:srgbClr val="D9DCE1"/>
            </a:solidFill>
            <a:prstDash val="solid"/>
          </a:ln>
        </p:spPr>
        <p:txBody>
          <a:bodyPr/>
          <a:lstStyle/>
          <a:p>
            <a:endParaRPr/>
          </a:p>
        </p:txBody>
      </p:sp>
      <p:sp>
        <p:nvSpPr>
          <p:cNvPr id="10" name="Text 8"/>
          <p:cNvSpPr txBox="1"/>
          <p:nvPr/>
        </p:nvSpPr>
        <p:spPr>
          <a:xfrm>
            <a:off x="3520440" y="2011680"/>
            <a:ext cx="548640" cy="548640"/>
          </a:xfrm>
          <a:prstGeom prst="rect">
            <a:avLst/>
          </a:prstGeom>
          <a:noFill/>
          <a:ln/>
        </p:spPr>
        <p:txBody>
          <a:bodyPr wrap="square" lIns="0" tIns="0" rIns="0" bIns="0" rtlCol="0" anchor="ctr"/>
          <a:lstStyle/>
          <a:p>
            <a:pPr marL="0" indent="0">
              <a:buNone/>
            </a:pPr>
            <a:r>
              <a:rPr lang="en-US" sz="3200" b="1" dirty="0">
                <a:solidFill>
                  <a:srgbClr val="1F5FBF"/>
                </a:solidFill>
                <a:latin typeface="Calibri" pitchFamily="34" charset="0"/>
                <a:ea typeface="Calibri" pitchFamily="34" charset="-122"/>
                <a:cs typeface="Calibri" pitchFamily="34" charset="-120"/>
              </a:rPr>
              <a:t>2</a:t>
            </a:r>
            <a:endParaRPr lang="en-US" sz="3200" dirty="0"/>
          </a:p>
        </p:txBody>
      </p:sp>
      <p:sp>
        <p:nvSpPr>
          <p:cNvPr id="11" name="Text 9"/>
          <p:cNvSpPr txBox="1"/>
          <p:nvPr/>
        </p:nvSpPr>
        <p:spPr>
          <a:xfrm>
            <a:off x="3520440" y="2697480"/>
            <a:ext cx="2148840" cy="548640"/>
          </a:xfrm>
          <a:prstGeom prst="rect">
            <a:avLst/>
          </a:prstGeom>
          <a:noFill/>
          <a:ln/>
        </p:spPr>
        <p:txBody>
          <a:bodyPr wrap="square" lIns="0" tIns="0" rIns="0" bIns="0" rtlCol="0" anchor="t"/>
          <a:lstStyle/>
          <a:p>
            <a:pPr marL="0" indent="0">
              <a:buNone/>
            </a:pPr>
            <a:r>
              <a:rPr lang="en-US" sz="1700" b="1" dirty="0">
                <a:solidFill>
                  <a:srgbClr val="1F2933"/>
                </a:solidFill>
                <a:latin typeface="Calibri" pitchFamily="34" charset="0"/>
                <a:ea typeface="Calibri" pitchFamily="34" charset="-122"/>
                <a:cs typeface="Calibri" pitchFamily="34" charset="-120"/>
              </a:rPr>
              <a:t>A working demo on your questions</a:t>
            </a:r>
            <a:endParaRPr lang="en-US" sz="1700" dirty="0"/>
          </a:p>
        </p:txBody>
      </p:sp>
      <p:sp>
        <p:nvSpPr>
          <p:cNvPr id="12" name="Text 10"/>
          <p:cNvSpPr txBox="1"/>
          <p:nvPr/>
        </p:nvSpPr>
        <p:spPr>
          <a:xfrm>
            <a:off x="3520440" y="3246120"/>
            <a:ext cx="2148840" cy="6400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An AI/BI dashboard, a Genie space and an app, on data shaped like yours.</a:t>
            </a:r>
            <a:endParaRPr lang="en-US" sz="1400" dirty="0"/>
          </a:p>
        </p:txBody>
      </p:sp>
      <p:sp>
        <p:nvSpPr>
          <p:cNvPr id="13" name="out2"/>
          <p:cNvSpPr/>
          <p:nvPr/>
        </p:nvSpPr>
        <p:spPr>
          <a:xfrm>
            <a:off x="6035040" y="1828800"/>
            <a:ext cx="2560320" cy="2103120"/>
          </a:xfrm>
          <a:prstGeom prst="rect">
            <a:avLst/>
          </a:prstGeom>
          <a:solidFill>
            <a:srgbClr val="FFFFFF"/>
          </a:solidFill>
          <a:ln w="9525">
            <a:solidFill>
              <a:srgbClr val="D9DCE1"/>
            </a:solidFill>
            <a:prstDash val="solid"/>
          </a:ln>
        </p:spPr>
        <p:txBody>
          <a:bodyPr/>
          <a:lstStyle/>
          <a:p>
            <a:endParaRPr/>
          </a:p>
        </p:txBody>
      </p:sp>
      <p:sp>
        <p:nvSpPr>
          <p:cNvPr id="14" name="Text 12"/>
          <p:cNvSpPr txBox="1"/>
          <p:nvPr/>
        </p:nvSpPr>
        <p:spPr>
          <a:xfrm>
            <a:off x="6263640" y="2011680"/>
            <a:ext cx="548640" cy="548640"/>
          </a:xfrm>
          <a:prstGeom prst="rect">
            <a:avLst/>
          </a:prstGeom>
          <a:noFill/>
          <a:ln/>
        </p:spPr>
        <p:txBody>
          <a:bodyPr wrap="square" lIns="0" tIns="0" rIns="0" bIns="0" rtlCol="0" anchor="ctr"/>
          <a:lstStyle/>
          <a:p>
            <a:pPr marL="0" indent="0">
              <a:buNone/>
            </a:pPr>
            <a:r>
              <a:rPr lang="en-US" sz="3200" b="1" dirty="0">
                <a:solidFill>
                  <a:srgbClr val="1F5FBF"/>
                </a:solidFill>
                <a:latin typeface="Calibri" pitchFamily="34" charset="0"/>
                <a:ea typeface="Calibri" pitchFamily="34" charset="-122"/>
                <a:cs typeface="Calibri" pitchFamily="34" charset="-120"/>
              </a:rPr>
              <a:t>3</a:t>
            </a:r>
            <a:endParaRPr lang="en-US" sz="3200" dirty="0"/>
          </a:p>
        </p:txBody>
      </p:sp>
      <p:sp>
        <p:nvSpPr>
          <p:cNvPr id="15" name="Text 13"/>
          <p:cNvSpPr txBox="1"/>
          <p:nvPr/>
        </p:nvSpPr>
        <p:spPr>
          <a:xfrm>
            <a:off x="6263640" y="2697480"/>
            <a:ext cx="2148840" cy="548640"/>
          </a:xfrm>
          <a:prstGeom prst="rect">
            <a:avLst/>
          </a:prstGeom>
          <a:noFill/>
          <a:ln/>
        </p:spPr>
        <p:txBody>
          <a:bodyPr wrap="square" lIns="0" tIns="0" rIns="0" bIns="0" rtlCol="0" anchor="t"/>
          <a:lstStyle/>
          <a:p>
            <a:pPr marL="0" indent="0">
              <a:buNone/>
            </a:pPr>
            <a:r>
              <a:rPr lang="en-US" sz="1700" b="1" dirty="0">
                <a:solidFill>
                  <a:srgbClr val="1F2933"/>
                </a:solidFill>
                <a:latin typeface="Calibri" pitchFamily="34" charset="0"/>
                <a:ea typeface="Calibri" pitchFamily="34" charset="-122"/>
                <a:cs typeface="Calibri" pitchFamily="34" charset="-120"/>
              </a:rPr>
              <a:t>A two-week pilot</a:t>
            </a:r>
            <a:endParaRPr lang="en-US" sz="1700" dirty="0"/>
          </a:p>
        </p:txBody>
      </p:sp>
      <p:sp>
        <p:nvSpPr>
          <p:cNvPr id="16" name="Text 14"/>
          <p:cNvSpPr txBox="1"/>
          <p:nvPr/>
        </p:nvSpPr>
        <p:spPr>
          <a:xfrm>
            <a:off x="6263640" y="3246120"/>
            <a:ext cx="2148840" cy="64008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With dates, owners and a measure of success.</a:t>
            </a:r>
            <a:endParaRPr lang="en-US" sz="1400" dirty="0"/>
          </a:p>
        </p:txBody>
      </p:sp>
      <p:sp>
        <p:nvSpPr>
          <p:cNvPr id="17" name="Text 15"/>
          <p:cNvSpPr txBox="1"/>
          <p:nvPr/>
        </p:nvSpPr>
        <p:spPr>
          <a:xfrm>
            <a:off x="548640" y="4754880"/>
            <a:ext cx="73152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Syed Javed Ali  |  Databricks Solutions Architect  |  Thursday 29 October 2026</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What I heard from each of you</a:t>
            </a:r>
            <a:endParaRPr lang="en-US" sz="3000" dirty="0"/>
          </a:p>
        </p:txBody>
      </p:sp>
      <p:sp>
        <p:nvSpPr>
          <p:cNvPr id="3" name="per0"/>
          <p:cNvSpPr/>
          <p:nvPr/>
        </p:nvSpPr>
        <p:spPr>
          <a:xfrm>
            <a:off x="548640" y="1280160"/>
            <a:ext cx="2560320" cy="2834640"/>
          </a:xfrm>
          <a:prstGeom prst="rect">
            <a:avLst/>
          </a:prstGeom>
          <a:solidFill>
            <a:srgbClr val="FFFFFF"/>
          </a:solidFill>
          <a:ln w="9525">
            <a:solidFill>
              <a:srgbClr val="D9DCE1"/>
            </a:solidFill>
            <a:prstDash val="solid"/>
          </a:ln>
        </p:spPr>
        <p:txBody>
          <a:bodyPr/>
          <a:lstStyle/>
          <a:p>
            <a:endParaRPr/>
          </a:p>
        </p:txBody>
      </p:sp>
      <p:sp>
        <p:nvSpPr>
          <p:cNvPr id="4" name="Shape 2"/>
          <p:cNvSpPr/>
          <p:nvPr/>
        </p:nvSpPr>
        <p:spPr>
          <a:xfrm>
            <a:off x="548640" y="1280160"/>
            <a:ext cx="2560320" cy="0"/>
          </a:xfrm>
          <a:prstGeom prst="line">
            <a:avLst/>
          </a:prstGeom>
          <a:noFill/>
          <a:ln w="38100">
            <a:solidFill>
              <a:srgbClr val="1F5FBF"/>
            </a:solidFill>
            <a:prstDash val="solid"/>
          </a:ln>
        </p:spPr>
        <p:txBody>
          <a:bodyPr/>
          <a:lstStyle/>
          <a:p>
            <a:endParaRPr/>
          </a:p>
        </p:txBody>
      </p:sp>
      <p:sp>
        <p:nvSpPr>
          <p:cNvPr id="5" name="Text 3"/>
          <p:cNvSpPr txBox="1"/>
          <p:nvPr/>
        </p:nvSpPr>
        <p:spPr>
          <a:xfrm>
            <a:off x="731520" y="1417320"/>
            <a:ext cx="2194560" cy="365760"/>
          </a:xfrm>
          <a:prstGeom prst="rect">
            <a:avLst/>
          </a:prstGeom>
          <a:noFill/>
          <a:ln/>
        </p:spPr>
        <p:txBody>
          <a:bodyPr wrap="square" lIns="0" tIns="0" rIns="0" bIns="0" rtlCol="0" anchor="ctr"/>
          <a:lstStyle/>
          <a:p>
            <a:pPr marL="0" indent="0">
              <a:buNone/>
            </a:pPr>
            <a:r>
              <a:rPr lang="en-US" sz="1600" b="1" dirty="0">
                <a:solidFill>
                  <a:srgbClr val="1F5FBF"/>
                </a:solidFill>
                <a:latin typeface="Calibri" pitchFamily="34" charset="0"/>
                <a:ea typeface="Calibri" pitchFamily="34" charset="-122"/>
                <a:cs typeface="Calibri" pitchFamily="34" charset="-120"/>
              </a:rPr>
              <a:t>Executive</a:t>
            </a:r>
            <a:endParaRPr lang="en-US" sz="1600" dirty="0"/>
          </a:p>
        </p:txBody>
      </p:sp>
      <p:sp>
        <p:nvSpPr>
          <p:cNvPr id="6" name="Text 4"/>
          <p:cNvSpPr txBox="1"/>
          <p:nvPr/>
        </p:nvSpPr>
        <p:spPr>
          <a:xfrm>
            <a:off x="731520" y="1783080"/>
            <a:ext cx="2194560" cy="2743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Daniel Osei, Chief Data Officer</a:t>
            </a:r>
            <a:endParaRPr lang="en-US" sz="1300" dirty="0"/>
          </a:p>
        </p:txBody>
      </p:sp>
      <p:sp>
        <p:nvSpPr>
          <p:cNvPr id="7" name="Text 5"/>
          <p:cNvSpPr txBox="1"/>
          <p:nvPr/>
        </p:nvSpPr>
        <p:spPr>
          <a:xfrm>
            <a:off x="731520" y="2194560"/>
            <a:ext cx="2194560" cy="9144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said: “I cannot tell the board whether it keeps customers... I don't know which file to trust.”</a:t>
            </a:r>
            <a:endParaRPr lang="en-US" sz="1400" dirty="0"/>
          </a:p>
        </p:txBody>
      </p:sp>
      <p:sp>
        <p:nvSpPr>
          <p:cNvPr id="8" name="Text 6"/>
          <p:cNvSpPr txBox="1"/>
          <p:nvPr/>
        </p:nvSpPr>
        <p:spPr>
          <a:xfrm>
            <a:off x="731520" y="3200400"/>
            <a:ext cx="2194560" cy="822960"/>
          </a:xfrm>
          <a:prstGeom prst="rect">
            <a:avLst/>
          </a:prstGeom>
          <a:noFill/>
          <a:ln/>
        </p:spPr>
        <p:txBody>
          <a:bodyPr wrap="square" lIns="0" tIns="0" rIns="0" bIns="0" rtlCol="0" anchor="t"/>
          <a:lstStyle/>
          <a:p>
            <a:pPr marL="0" indent="0">
              <a:buNone/>
            </a:pPr>
            <a:r>
              <a:rPr lang="en-US" sz="1400" b="1" dirty="0">
                <a:solidFill>
                  <a:srgbClr val="1F2933"/>
                </a:solidFill>
                <a:latin typeface="Calibri" pitchFamily="34" charset="0"/>
                <a:ea typeface="Calibri" pitchFamily="34" charset="-122"/>
                <a:cs typeface="Calibri" pitchFamily="34" charset="-120"/>
              </a:rPr>
              <a:t>Success: One trusted view of loyalty retention and margin, and clarity on who can see customer data.</a:t>
            </a:r>
            <a:endParaRPr lang="en-US" sz="1400" dirty="0"/>
          </a:p>
        </p:txBody>
      </p:sp>
      <p:sp>
        <p:nvSpPr>
          <p:cNvPr id="9" name="per1"/>
          <p:cNvSpPr/>
          <p:nvPr/>
        </p:nvSpPr>
        <p:spPr>
          <a:xfrm>
            <a:off x="3291840" y="1280160"/>
            <a:ext cx="2560320" cy="2834640"/>
          </a:xfrm>
          <a:prstGeom prst="rect">
            <a:avLst/>
          </a:prstGeom>
          <a:solidFill>
            <a:srgbClr val="FFFFFF"/>
          </a:solidFill>
          <a:ln w="9525">
            <a:solidFill>
              <a:srgbClr val="D9DCE1"/>
            </a:solidFill>
            <a:prstDash val="solid"/>
          </a:ln>
        </p:spPr>
        <p:txBody>
          <a:bodyPr/>
          <a:lstStyle/>
          <a:p>
            <a:endParaRPr/>
          </a:p>
        </p:txBody>
      </p:sp>
      <p:sp>
        <p:nvSpPr>
          <p:cNvPr id="10" name="Shape 8"/>
          <p:cNvSpPr/>
          <p:nvPr/>
        </p:nvSpPr>
        <p:spPr>
          <a:xfrm>
            <a:off x="3291840" y="1280160"/>
            <a:ext cx="2560320" cy="0"/>
          </a:xfrm>
          <a:prstGeom prst="line">
            <a:avLst/>
          </a:prstGeom>
          <a:noFill/>
          <a:ln w="38100">
            <a:solidFill>
              <a:srgbClr val="1F5FBF"/>
            </a:solidFill>
            <a:prstDash val="solid"/>
          </a:ln>
        </p:spPr>
        <p:txBody>
          <a:bodyPr/>
          <a:lstStyle/>
          <a:p>
            <a:endParaRPr/>
          </a:p>
        </p:txBody>
      </p:sp>
      <p:sp>
        <p:nvSpPr>
          <p:cNvPr id="11" name="Text 9"/>
          <p:cNvSpPr txBox="1"/>
          <p:nvPr/>
        </p:nvSpPr>
        <p:spPr>
          <a:xfrm>
            <a:off x="3474720" y="1417320"/>
            <a:ext cx="2194560" cy="365760"/>
          </a:xfrm>
          <a:prstGeom prst="rect">
            <a:avLst/>
          </a:prstGeom>
          <a:noFill/>
          <a:ln/>
        </p:spPr>
        <p:txBody>
          <a:bodyPr wrap="square" lIns="0" tIns="0" rIns="0" bIns="0" rtlCol="0" anchor="ctr"/>
          <a:lstStyle/>
          <a:p>
            <a:pPr marL="0" indent="0">
              <a:buNone/>
            </a:pPr>
            <a:r>
              <a:rPr lang="en-US" sz="1600" b="1" dirty="0">
                <a:solidFill>
                  <a:srgbClr val="1F5FBF"/>
                </a:solidFill>
                <a:latin typeface="Calibri" pitchFamily="34" charset="0"/>
                <a:ea typeface="Calibri" pitchFamily="34" charset="-122"/>
                <a:cs typeface="Calibri" pitchFamily="34" charset="-120"/>
              </a:rPr>
              <a:t>Technical leader</a:t>
            </a:r>
            <a:endParaRPr lang="en-US" sz="1600" dirty="0"/>
          </a:p>
        </p:txBody>
      </p:sp>
      <p:sp>
        <p:nvSpPr>
          <p:cNvPr id="12" name="Text 10"/>
          <p:cNvSpPr txBox="1"/>
          <p:nvPr/>
        </p:nvSpPr>
        <p:spPr>
          <a:xfrm>
            <a:off x="3474720" y="1783080"/>
            <a:ext cx="2194560" cy="2743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Tomas Rivera, VP of Engineering</a:t>
            </a:r>
            <a:endParaRPr lang="en-US" sz="1300" dirty="0"/>
          </a:p>
        </p:txBody>
      </p:sp>
      <p:sp>
        <p:nvSpPr>
          <p:cNvPr id="13" name="Text 11"/>
          <p:cNvSpPr txBox="1"/>
          <p:nvPr/>
        </p:nvSpPr>
        <p:spPr>
          <a:xfrm>
            <a:off x="3474720" y="2194560"/>
            <a:ext cx="2194560" cy="914400"/>
          </a:xfrm>
          <a:prstGeom prst="rect">
            <a:avLst/>
          </a:prstGeom>
          <a:noFill/>
          <a:ln/>
        </p:spPr>
        <p:txBody>
          <a:bodyPr wrap="square" lIns="0" tIns="0" rIns="0" bIns="0" rtlCol="0" anchor="t"/>
          <a:lstStyle/>
          <a:p>
            <a:pPr marL="0" indent="0">
              <a:buNone/>
            </a:pPr>
            <a:r>
              <a:rPr lang="en-US" sz="1200" dirty="0">
                <a:solidFill>
                  <a:srgbClr val="1F2933"/>
                </a:solidFill>
                <a:latin typeface="Calibri" pitchFamily="34" charset="0"/>
                <a:ea typeface="Calibri" pitchFamily="34" charset="-122"/>
                <a:cs typeface="Calibri" pitchFamily="34" charset="-120"/>
              </a:rPr>
              <a:t>You said: “When a file arrives twice we reprocess and revenue is counted twice... I have no good way to test a change before it goes live.”</a:t>
            </a:r>
            <a:endParaRPr lang="en-US" sz="1200" dirty="0"/>
          </a:p>
        </p:txBody>
      </p:sp>
      <p:sp>
        <p:nvSpPr>
          <p:cNvPr id="14" name="Text 12"/>
          <p:cNvSpPr txBox="1"/>
          <p:nvPr/>
        </p:nvSpPr>
        <p:spPr>
          <a:xfrm>
            <a:off x="3474720" y="3200400"/>
            <a:ext cx="2194560" cy="822960"/>
          </a:xfrm>
          <a:prstGeom prst="rect">
            <a:avLst/>
          </a:prstGeom>
          <a:noFill/>
          <a:ln/>
        </p:spPr>
        <p:txBody>
          <a:bodyPr wrap="square" lIns="0" tIns="0" rIns="0" bIns="0" rtlCol="0" anchor="t"/>
          <a:lstStyle/>
          <a:p>
            <a:pPr marL="0" indent="0">
              <a:buNone/>
            </a:pPr>
            <a:r>
              <a:rPr lang="en-US" sz="1400" b="1" dirty="0">
                <a:solidFill>
                  <a:srgbClr val="1F2933"/>
                </a:solidFill>
                <a:latin typeface="Calibri" pitchFamily="34" charset="0"/>
                <a:ea typeface="Calibri" pitchFamily="34" charset="-122"/>
                <a:cs typeface="Calibri" pitchFamily="34" charset="-120"/>
              </a:rPr>
              <a:t>Success: Safe reprocessing, a way to test changes before release, early warning on bad data, open formats.</a:t>
            </a:r>
            <a:endParaRPr lang="en-US" sz="1400" dirty="0"/>
          </a:p>
        </p:txBody>
      </p:sp>
      <p:sp>
        <p:nvSpPr>
          <p:cNvPr id="15" name="per2"/>
          <p:cNvSpPr/>
          <p:nvPr/>
        </p:nvSpPr>
        <p:spPr>
          <a:xfrm>
            <a:off x="6035040" y="1280160"/>
            <a:ext cx="2560320" cy="2834640"/>
          </a:xfrm>
          <a:prstGeom prst="rect">
            <a:avLst/>
          </a:prstGeom>
          <a:solidFill>
            <a:srgbClr val="FFFFFF"/>
          </a:solidFill>
          <a:ln w="9525">
            <a:solidFill>
              <a:srgbClr val="D9DCE1"/>
            </a:solidFill>
            <a:prstDash val="solid"/>
          </a:ln>
        </p:spPr>
        <p:txBody>
          <a:bodyPr/>
          <a:lstStyle/>
          <a:p>
            <a:endParaRPr/>
          </a:p>
        </p:txBody>
      </p:sp>
      <p:sp>
        <p:nvSpPr>
          <p:cNvPr id="16" name="Shape 14"/>
          <p:cNvSpPr/>
          <p:nvPr/>
        </p:nvSpPr>
        <p:spPr>
          <a:xfrm>
            <a:off x="6035040" y="1280160"/>
            <a:ext cx="2560320" cy="0"/>
          </a:xfrm>
          <a:prstGeom prst="line">
            <a:avLst/>
          </a:prstGeom>
          <a:noFill/>
          <a:ln w="38100">
            <a:solidFill>
              <a:srgbClr val="1F5FBF"/>
            </a:solidFill>
            <a:prstDash val="solid"/>
          </a:ln>
        </p:spPr>
        <p:txBody>
          <a:bodyPr/>
          <a:lstStyle/>
          <a:p>
            <a:endParaRPr/>
          </a:p>
        </p:txBody>
      </p:sp>
      <p:sp>
        <p:nvSpPr>
          <p:cNvPr id="17" name="Text 15"/>
          <p:cNvSpPr txBox="1"/>
          <p:nvPr/>
        </p:nvSpPr>
        <p:spPr>
          <a:xfrm>
            <a:off x="6217920" y="1417320"/>
            <a:ext cx="2194560" cy="365760"/>
          </a:xfrm>
          <a:prstGeom prst="rect">
            <a:avLst/>
          </a:prstGeom>
          <a:noFill/>
          <a:ln/>
        </p:spPr>
        <p:txBody>
          <a:bodyPr wrap="square" lIns="0" tIns="0" rIns="0" bIns="0" rtlCol="0" anchor="ctr"/>
          <a:lstStyle/>
          <a:p>
            <a:pPr marL="0" indent="0">
              <a:buNone/>
            </a:pPr>
            <a:r>
              <a:rPr lang="en-US" sz="1600" b="1" dirty="0">
                <a:solidFill>
                  <a:srgbClr val="1F5FBF"/>
                </a:solidFill>
                <a:latin typeface="Calibri" pitchFamily="34" charset="0"/>
                <a:ea typeface="Calibri" pitchFamily="34" charset="-122"/>
                <a:cs typeface="Calibri" pitchFamily="34" charset="-120"/>
              </a:rPr>
              <a:t>Business / analytics leader</a:t>
            </a:r>
            <a:endParaRPr lang="en-US" sz="1600" dirty="0"/>
          </a:p>
        </p:txBody>
      </p:sp>
      <p:sp>
        <p:nvSpPr>
          <p:cNvPr id="18" name="Text 16"/>
          <p:cNvSpPr txBox="1"/>
          <p:nvPr/>
        </p:nvSpPr>
        <p:spPr>
          <a:xfrm>
            <a:off x="6217920" y="1826625"/>
            <a:ext cx="2194560" cy="274320"/>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Maria Santos, Chief Operating Officer</a:t>
            </a:r>
            <a:endParaRPr lang="en-US" sz="1300" dirty="0"/>
          </a:p>
        </p:txBody>
      </p:sp>
      <p:sp>
        <p:nvSpPr>
          <p:cNvPr id="19" name="Text 17"/>
          <p:cNvSpPr txBox="1"/>
          <p:nvPr/>
        </p:nvSpPr>
        <p:spPr>
          <a:xfrm>
            <a:off x="6217920" y="2194560"/>
            <a:ext cx="2194560" cy="91440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You said: “Every December we run out of our best sellers... I am guessing.”</a:t>
            </a:r>
            <a:endParaRPr lang="en-US" sz="1400" dirty="0"/>
          </a:p>
        </p:txBody>
      </p:sp>
      <p:sp>
        <p:nvSpPr>
          <p:cNvPr id="20" name="Text 18"/>
          <p:cNvSpPr txBox="1"/>
          <p:nvPr/>
        </p:nvSpPr>
        <p:spPr>
          <a:xfrm>
            <a:off x="6217920" y="3200400"/>
            <a:ext cx="2194560" cy="822960"/>
          </a:xfrm>
          <a:prstGeom prst="rect">
            <a:avLst/>
          </a:prstGeom>
          <a:noFill/>
          <a:ln/>
        </p:spPr>
        <p:txBody>
          <a:bodyPr wrap="square" lIns="0" tIns="0" rIns="0" bIns="0" rtlCol="0" anchor="t"/>
          <a:lstStyle/>
          <a:p>
            <a:pPr marL="0" indent="0">
              <a:buNone/>
            </a:pPr>
            <a:r>
              <a:rPr lang="en-US" sz="1400" b="1" dirty="0">
                <a:solidFill>
                  <a:srgbClr val="1F2933"/>
                </a:solidFill>
                <a:latin typeface="Calibri" pitchFamily="34" charset="0"/>
                <a:ea typeface="Calibri" pitchFamily="34" charset="-122"/>
                <a:cs typeface="Calibri" pitchFamily="34" charset="-120"/>
              </a:rPr>
              <a:t>Success: See where stock-outs and promotions cost margin, ahead of the next peak, and what to change first.</a:t>
            </a:r>
            <a:endParaRPr lang="en-US" sz="1400" dirty="0"/>
          </a:p>
        </p:txBody>
      </p:sp>
      <p:sp>
        <p:nvSpPr>
          <p:cNvPr id="21" name="Text 19"/>
          <p:cNvSpPr txBox="1"/>
          <p:nvPr/>
        </p:nvSpPr>
        <p:spPr>
          <a:xfrm>
            <a:off x="548640" y="4297680"/>
            <a:ext cx="8046720" cy="365760"/>
          </a:xfrm>
          <a:prstGeom prst="rect">
            <a:avLst/>
          </a:prstGeom>
          <a:noFill/>
          <a:ln/>
        </p:spPr>
        <p:txBody>
          <a:bodyPr wrap="square" lIns="0" tIns="0" rIns="0" bIns="0" rtlCol="0" anchor="ctr"/>
          <a:lstStyle/>
          <a:p>
            <a:pPr marL="0" indent="0">
              <a:buNone/>
            </a:pPr>
            <a:r>
              <a:rPr lang="en-US" sz="1600" i="1" dirty="0">
                <a:solidFill>
                  <a:srgbClr val="1F5FBF"/>
                </a:solidFill>
                <a:latin typeface="Calibri" pitchFamily="34" charset="0"/>
                <a:ea typeface="Calibri" pitchFamily="34" charset="-122"/>
                <a:cs typeface="Calibri" pitchFamily="34" charset="-120"/>
              </a:rPr>
              <a:t>Did I get that right? What did I miss?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What changes for each of you</a:t>
            </a:r>
            <a:endParaRPr lang="en-US" sz="3000" dirty="0"/>
          </a:p>
        </p:txBody>
      </p:sp>
      <p:graphicFrame>
        <p:nvGraphicFramePr>
          <p:cNvPr id="4" name="valuetable"/>
          <p:cNvGraphicFramePr>
            <a:graphicFrameLocks noGrp="1"/>
          </p:cNvGraphicFramePr>
          <p:nvPr>
            <p:extLst>
              <p:ext uri="{D42A27DB-BD31-4B8C-83A1-F6EECF244321}">
                <p14:modId xmlns:p14="http://schemas.microsoft.com/office/powerpoint/2010/main" val="3194559092"/>
              </p:ext>
            </p:extLst>
          </p:nvPr>
        </p:nvGraphicFramePr>
        <p:xfrm>
          <a:off x="460149" y="1030224"/>
          <a:ext cx="8046720" cy="3227832"/>
        </p:xfrm>
        <a:graphic>
          <a:graphicData uri="http://schemas.openxmlformats.org/drawingml/2006/table">
            <a:tbl>
              <a:tblPr/>
              <a:tblGrid>
                <a:gridCol w="1554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rPr>
                        <a:t>Who</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marL="0" indent="0">
                        <a:buNone/>
                      </a:pPr>
                      <a:r>
                        <a:rPr lang="en-US" sz="1200" b="1" dirty="0">
                          <a:solidFill>
                            <a:srgbClr val="FFFFFF"/>
                          </a:solidFill>
                        </a:rPr>
                        <a:t>Today</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marL="0" indent="0">
                        <a:buNone/>
                      </a:pPr>
                      <a:r>
                        <a:rPr lang="en-US" sz="1200" b="1" dirty="0">
                          <a:solidFill>
                            <a:srgbClr val="FFFFFF"/>
                          </a:solidFill>
                        </a:rPr>
                        <a:t>With this</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marL="0" indent="0">
                        <a:buNone/>
                      </a:pPr>
                      <a:r>
                        <a:rPr lang="en-US" sz="1200" b="1" dirty="0">
                          <a:solidFill>
                            <a:srgbClr val="FFFFFF"/>
                          </a:solidFill>
                        </a:rPr>
                        <a:t>Business value, and how we will know</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extLst>
                  <a:ext uri="{0D108BD9-81ED-4DB2-BD59-A6C34878D82A}">
                    <a16:rowId xmlns:a16="http://schemas.microsoft.com/office/drawing/2014/main" val="10000"/>
                  </a:ext>
                </a:extLst>
              </a:tr>
              <a:tr h="640080">
                <a:tc>
                  <a:txBody>
                    <a:bodyPr/>
                    <a:lstStyle/>
                    <a:p>
                      <a:pPr marL="0" indent="0">
                        <a:buNone/>
                      </a:pPr>
                      <a:r>
                        <a:rPr lang="en-US" sz="1200" b="1" dirty="0">
                          <a:solidFill>
                            <a:srgbClr val="1F2933"/>
                          </a:solidFill>
                        </a:rPr>
                        <a:t>Executive</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A different number every time I ask for loyalty retention or margin</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One governed margin definition (30.83%) and one loyalty retention curve, from the same gold tables every time</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One number the board can trust: measured by the margin rate reading the same on every page</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200" b="1" dirty="0">
                          <a:solidFill>
                            <a:srgbClr val="1F2933"/>
                          </a:solidFill>
                        </a:rPr>
                        <a:t>Technical leader</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A file landing twice means revenue counted twice; changes reach production untested</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A pipeline that counts and reconciles duplicates, late arrivals and bad rows automatically</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Safe reprocessing and a way to test changes: measured by every run reconciling (bronze = silver + quarantine + duplicates removed) on our run</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200" b="1" dirty="0">
                          <a:solidFill>
                            <a:srgbClr val="1F2933"/>
                          </a:solidFill>
                        </a:rPr>
                        <a:t>Business / analytics</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Planning the next peak six weeks out, guessing which products stock out and which promotions to repeat</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Stock-out exposure by category (ESTIMATE) and a verdict on every promotion, ahead of the peak</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200" dirty="0">
                          <a:solidFill>
                            <a:srgbClr val="1F2933"/>
                          </a:solidFill>
                        </a:rPr>
                        <a:t>Decisions made sooner, before the peak: measured by promotion verdicts available within days of a promotion ending</a:t>
                      </a:r>
                      <a:endParaRPr lang="en-US" sz="12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3" name="Text 1"/>
          <p:cNvSpPr txBox="1"/>
          <p:nvPr/>
        </p:nvSpPr>
        <p:spPr>
          <a:xfrm>
            <a:off x="450317" y="4271919"/>
            <a:ext cx="8046720" cy="457200"/>
          </a:xfrm>
          <a:prstGeom prst="rect">
            <a:avLst/>
          </a:prstGeom>
          <a:noFill/>
          <a:ln/>
        </p:spPr>
        <p:txBody>
          <a:bodyPr wrap="square" lIns="0" tIns="0" rIns="0" bIns="0" rtlCol="0" anchor="ctr"/>
          <a:lstStyle/>
          <a:p>
            <a:pPr marL="0" indent="0">
              <a:buNone/>
            </a:pPr>
            <a:r>
              <a:rPr lang="en-US" sz="1600" b="1" dirty="0">
                <a:solidFill>
                  <a:srgbClr val="1F5FBF"/>
                </a:solidFill>
                <a:latin typeface="Calibri" pitchFamily="34" charset="0"/>
                <a:ea typeface="Calibri" pitchFamily="34" charset="-122"/>
                <a:cs typeface="Calibri" pitchFamily="34" charset="-120"/>
              </a:rPr>
              <a:t>Faster is the means. The value is: decisions made before the peak, not after it.</a:t>
            </a:r>
            <a:endParaRPr lang="en-US" sz="1600" dirty="0"/>
          </a:p>
        </p:txBody>
      </p:sp>
      <p:sp>
        <p:nvSpPr>
          <p:cNvPr id="5" name="Text 2"/>
          <p:cNvSpPr txBox="1"/>
          <p:nvPr/>
        </p:nvSpPr>
        <p:spPr>
          <a:xfrm>
            <a:off x="548640" y="4754880"/>
            <a:ext cx="7315200" cy="228600"/>
          </a:xfrm>
          <a:prstGeom prst="rect">
            <a:avLst/>
          </a:prstGeom>
          <a:noFill/>
          <a:ln/>
        </p:spPr>
        <p:txBody>
          <a:bodyPr wrap="square" lIns="0" tIns="0" rIns="0" bIns="0" rtlCol="0" anchor="ctr"/>
          <a:lstStyle/>
          <a:p>
            <a:pPr marL="0" indent="0">
              <a:buNone/>
            </a:pPr>
            <a:r>
              <a:rPr lang="en-US" sz="1000" dirty="0">
                <a:solidFill>
                  <a:srgbClr val="6B7280"/>
                </a:solidFill>
                <a:latin typeface="Calibri" pitchFamily="34" charset="0"/>
                <a:ea typeface="Calibri" pitchFamily="34" charset="-122"/>
                <a:cs typeface="Calibri" pitchFamily="34" charset="-120"/>
              </a:rPr>
              <a:t>All figures are from a synthetic sample.</a:t>
            </a:r>
            <a:endParaRPr lang="en-US" sz="10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How it works, and why each piece matters to you</a:t>
            </a:r>
            <a:endParaRPr lang="en-US" sz="3000" dirty="0"/>
          </a:p>
        </p:txBody>
      </p:sp>
      <p:sp>
        <p:nvSpPr>
          <p:cNvPr id="3" name="flow0"/>
          <p:cNvSpPr/>
          <p:nvPr/>
        </p:nvSpPr>
        <p:spPr>
          <a:xfrm>
            <a:off x="548640" y="1371600"/>
            <a:ext cx="1828800" cy="1188720"/>
          </a:xfrm>
          <a:prstGeom prst="rect">
            <a:avLst/>
          </a:prstGeom>
          <a:solidFill>
            <a:srgbClr val="FFFFFF"/>
          </a:solidFill>
          <a:ln w="19050">
            <a:solidFill>
              <a:srgbClr val="6B7280"/>
            </a:solidFill>
            <a:prstDash val="dash"/>
          </a:ln>
        </p:spPr>
        <p:txBody>
          <a:bodyPr/>
          <a:lstStyle/>
          <a:p>
            <a:endParaRPr/>
          </a:p>
        </p:txBody>
      </p:sp>
      <p:sp>
        <p:nvSpPr>
          <p:cNvPr id="4" name="Text 2"/>
          <p:cNvSpPr txBox="1"/>
          <p:nvPr/>
        </p:nvSpPr>
        <p:spPr>
          <a:xfrm>
            <a:off x="640080" y="1463040"/>
            <a:ext cx="1645920" cy="365760"/>
          </a:xfrm>
          <a:prstGeom prst="rect">
            <a:avLst/>
          </a:prstGeom>
          <a:noFill/>
          <a:ln/>
        </p:spPr>
        <p:txBody>
          <a:bodyPr wrap="square" lIns="0" tIns="0" rIns="0" bIns="0" rtlCol="0" anchor="ctr"/>
          <a:lstStyle/>
          <a:p>
            <a:pPr marL="0" indent="0" algn="ctr">
              <a:buNone/>
            </a:pPr>
            <a:r>
              <a:rPr lang="en-US" sz="1500" b="1" dirty="0">
                <a:solidFill>
                  <a:srgbClr val="1F2933"/>
                </a:solidFill>
                <a:latin typeface="Calibri" pitchFamily="34" charset="0"/>
                <a:ea typeface="Calibri" pitchFamily="34" charset="-122"/>
                <a:cs typeface="Calibri" pitchFamily="34" charset="-120"/>
              </a:rPr>
              <a:t>Sources</a:t>
            </a:r>
            <a:endParaRPr lang="en-US" sz="1500" dirty="0"/>
          </a:p>
        </p:txBody>
      </p:sp>
      <p:sp>
        <p:nvSpPr>
          <p:cNvPr id="5" name="Text 3"/>
          <p:cNvSpPr txBox="1"/>
          <p:nvPr/>
        </p:nvSpPr>
        <p:spPr>
          <a:xfrm>
            <a:off x="640080" y="1874520"/>
            <a:ext cx="1645920" cy="594360"/>
          </a:xfrm>
          <a:prstGeom prst="rect">
            <a:avLst/>
          </a:prstGeom>
          <a:noFill/>
          <a:ln/>
        </p:spPr>
        <p:txBody>
          <a:bodyPr wrap="square" lIns="0" tIns="0" rIns="0" bIns="0" rtlCol="0" anchor="ctr"/>
          <a:lstStyle/>
          <a:p>
            <a:pPr marL="0" indent="0" algn="ctr">
              <a:buNone/>
            </a:pPr>
            <a:r>
              <a:rPr lang="en-US" sz="1100" dirty="0">
                <a:solidFill>
                  <a:srgbClr val="6B7280"/>
                </a:solidFill>
                <a:latin typeface="Calibri" pitchFamily="34" charset="0"/>
                <a:ea typeface="Calibri" pitchFamily="34" charset="-122"/>
                <a:cs typeface="Calibri" pitchFamily="34" charset="-120"/>
              </a:rPr>
              <a:t>POS daily export, weekly inventory snapshot, loyalty file, promotions calendar (assumed; all synthetic)</a:t>
            </a:r>
            <a:endParaRPr lang="en-US" sz="1100" dirty="0"/>
          </a:p>
        </p:txBody>
      </p:sp>
      <p:sp>
        <p:nvSpPr>
          <p:cNvPr id="6" name="Text 4"/>
          <p:cNvSpPr txBox="1"/>
          <p:nvPr/>
        </p:nvSpPr>
        <p:spPr>
          <a:xfrm>
            <a:off x="548640" y="2697480"/>
            <a:ext cx="1828800" cy="228600"/>
          </a:xfrm>
          <a:prstGeom prst="rect">
            <a:avLst/>
          </a:prstGeom>
          <a:noFill/>
          <a:ln/>
        </p:spPr>
        <p:txBody>
          <a:bodyPr wrap="square" lIns="0" tIns="0" rIns="0" bIns="0" rtlCol="0" anchor="ctr"/>
          <a:lstStyle/>
          <a:p>
            <a:pPr marL="0" indent="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7" name="Text 5"/>
          <p:cNvSpPr txBox="1"/>
          <p:nvPr/>
        </p:nvSpPr>
        <p:spPr>
          <a:xfrm>
            <a:off x="548640" y="2926080"/>
            <a:ext cx="1828800" cy="6400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Explains why a file landing twice can double-count revenue (Tomas's concern)</a:t>
            </a:r>
            <a:endParaRPr lang="en-US" sz="1300" dirty="0"/>
          </a:p>
        </p:txBody>
      </p:sp>
      <p:sp>
        <p:nvSpPr>
          <p:cNvPr id="8" name="Text 6"/>
          <p:cNvSpPr txBox="1"/>
          <p:nvPr/>
        </p:nvSpPr>
        <p:spPr>
          <a:xfrm>
            <a:off x="2377440" y="1645920"/>
            <a:ext cx="228600" cy="548640"/>
          </a:xfrm>
          <a:prstGeom prst="rect">
            <a:avLst/>
          </a:prstGeom>
          <a:noFill/>
          <a:ln/>
        </p:spPr>
        <p:txBody>
          <a:bodyPr wrap="square" lIns="0" tIns="0" rIns="0" bIns="0" rtlCol="0" anchor="ctr"/>
          <a:lstStyle/>
          <a:p>
            <a:pPr marL="0" indent="0" algn="ctr">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9" name="flow1"/>
          <p:cNvSpPr/>
          <p:nvPr/>
        </p:nvSpPr>
        <p:spPr>
          <a:xfrm>
            <a:off x="2606040" y="1371600"/>
            <a:ext cx="1828800" cy="1188720"/>
          </a:xfrm>
          <a:prstGeom prst="rect">
            <a:avLst/>
          </a:prstGeom>
          <a:solidFill>
            <a:srgbClr val="F5F6F8"/>
          </a:solidFill>
          <a:ln w="19050">
            <a:solidFill>
              <a:srgbClr val="1F5FBF"/>
            </a:solidFill>
            <a:prstDash val="solid"/>
          </a:ln>
        </p:spPr>
        <p:txBody>
          <a:bodyPr/>
          <a:lstStyle/>
          <a:p>
            <a:endParaRPr/>
          </a:p>
        </p:txBody>
      </p:sp>
      <p:sp>
        <p:nvSpPr>
          <p:cNvPr id="10" name="Text 8"/>
          <p:cNvSpPr txBox="1"/>
          <p:nvPr/>
        </p:nvSpPr>
        <p:spPr>
          <a:xfrm>
            <a:off x="2697480" y="1463040"/>
            <a:ext cx="1645920" cy="365760"/>
          </a:xfrm>
          <a:prstGeom prst="rect">
            <a:avLst/>
          </a:prstGeom>
          <a:noFill/>
          <a:ln/>
        </p:spPr>
        <p:txBody>
          <a:bodyPr wrap="square" lIns="0" tIns="0" rIns="0" bIns="0" rtlCol="0" anchor="ctr"/>
          <a:lstStyle/>
          <a:p>
            <a:pPr marL="0" indent="0" algn="ctr">
              <a:buNone/>
            </a:pPr>
            <a:r>
              <a:rPr lang="en-US" sz="1500" b="1" dirty="0">
                <a:solidFill>
                  <a:srgbClr val="1F2933"/>
                </a:solidFill>
                <a:latin typeface="Calibri" pitchFamily="34" charset="0"/>
                <a:ea typeface="Calibri" pitchFamily="34" charset="-122"/>
                <a:cs typeface="Calibri" pitchFamily="34" charset="-120"/>
              </a:rPr>
              <a:t>Land and clean</a:t>
            </a:r>
            <a:endParaRPr lang="en-US" sz="1500" dirty="0"/>
          </a:p>
        </p:txBody>
      </p:sp>
      <p:sp>
        <p:nvSpPr>
          <p:cNvPr id="11" name="Text 9"/>
          <p:cNvSpPr txBox="1"/>
          <p:nvPr/>
        </p:nvSpPr>
        <p:spPr>
          <a:xfrm>
            <a:off x="2697480" y="1874520"/>
            <a:ext cx="1645920" cy="5943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Bronze (raw + lineage) → silver (typed, deduped, quarantined)</a:t>
            </a:r>
            <a:endParaRPr lang="en-US" sz="1200" dirty="0"/>
          </a:p>
        </p:txBody>
      </p:sp>
      <p:sp>
        <p:nvSpPr>
          <p:cNvPr id="12" name="Text 10"/>
          <p:cNvSpPr txBox="1"/>
          <p:nvPr/>
        </p:nvSpPr>
        <p:spPr>
          <a:xfrm>
            <a:off x="2606040" y="2697480"/>
            <a:ext cx="1828800" cy="228600"/>
          </a:xfrm>
          <a:prstGeom prst="rect">
            <a:avLst/>
          </a:prstGeom>
          <a:noFill/>
          <a:ln/>
        </p:spPr>
        <p:txBody>
          <a:bodyPr wrap="square" lIns="0" tIns="0" rIns="0" bIns="0" rtlCol="0" anchor="ctr"/>
          <a:lstStyle/>
          <a:p>
            <a:pPr marL="0" indent="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3" name="Text 11"/>
          <p:cNvSpPr txBox="1"/>
          <p:nvPr/>
        </p:nvSpPr>
        <p:spPr>
          <a:xfrm>
            <a:off x="2606040" y="2926080"/>
            <a:ext cx="1828800" cy="6400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Duplicates and bad rows are counted and explained, not silently dropped</a:t>
            </a:r>
            <a:endParaRPr lang="en-US" sz="1300" dirty="0"/>
          </a:p>
        </p:txBody>
      </p:sp>
      <p:sp>
        <p:nvSpPr>
          <p:cNvPr id="14" name="Text 12"/>
          <p:cNvSpPr txBox="1"/>
          <p:nvPr/>
        </p:nvSpPr>
        <p:spPr>
          <a:xfrm>
            <a:off x="4434840" y="1645920"/>
            <a:ext cx="228600" cy="548640"/>
          </a:xfrm>
          <a:prstGeom prst="rect">
            <a:avLst/>
          </a:prstGeom>
          <a:noFill/>
          <a:ln/>
        </p:spPr>
        <p:txBody>
          <a:bodyPr wrap="square" lIns="0" tIns="0" rIns="0" bIns="0" rtlCol="0" anchor="ctr"/>
          <a:lstStyle/>
          <a:p>
            <a:pPr marL="0" indent="0" algn="ctr">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15" name="flow2"/>
          <p:cNvSpPr/>
          <p:nvPr/>
        </p:nvSpPr>
        <p:spPr>
          <a:xfrm>
            <a:off x="4663440" y="1371600"/>
            <a:ext cx="1828800" cy="1188720"/>
          </a:xfrm>
          <a:prstGeom prst="rect">
            <a:avLst/>
          </a:prstGeom>
          <a:solidFill>
            <a:srgbClr val="F5F6F8"/>
          </a:solidFill>
          <a:ln w="19050">
            <a:solidFill>
              <a:srgbClr val="1F5FBF"/>
            </a:solidFill>
            <a:prstDash val="solid"/>
          </a:ln>
        </p:spPr>
        <p:txBody>
          <a:bodyPr/>
          <a:lstStyle/>
          <a:p>
            <a:endParaRPr/>
          </a:p>
        </p:txBody>
      </p:sp>
      <p:sp>
        <p:nvSpPr>
          <p:cNvPr id="16" name="Text 14"/>
          <p:cNvSpPr txBox="1"/>
          <p:nvPr/>
        </p:nvSpPr>
        <p:spPr>
          <a:xfrm>
            <a:off x="4754880" y="1463040"/>
            <a:ext cx="1645920" cy="365760"/>
          </a:xfrm>
          <a:prstGeom prst="rect">
            <a:avLst/>
          </a:prstGeom>
          <a:noFill/>
          <a:ln/>
        </p:spPr>
        <p:txBody>
          <a:bodyPr wrap="square" lIns="0" tIns="0" rIns="0" bIns="0" rtlCol="0" anchor="ctr"/>
          <a:lstStyle/>
          <a:p>
            <a:pPr marL="0" indent="0" algn="ctr">
              <a:buNone/>
            </a:pPr>
            <a:r>
              <a:rPr lang="en-US" sz="1500" b="1" dirty="0">
                <a:solidFill>
                  <a:srgbClr val="1F2933"/>
                </a:solidFill>
                <a:latin typeface="Calibri" pitchFamily="34" charset="0"/>
                <a:ea typeface="Calibri" pitchFamily="34" charset="-122"/>
                <a:cs typeface="Calibri" pitchFamily="34" charset="-120"/>
              </a:rPr>
              <a:t>Business-ready data</a:t>
            </a:r>
            <a:endParaRPr lang="en-US" sz="1500" dirty="0"/>
          </a:p>
        </p:txBody>
      </p:sp>
      <p:sp>
        <p:nvSpPr>
          <p:cNvPr id="17" name="Text 15"/>
          <p:cNvSpPr txBox="1"/>
          <p:nvPr/>
        </p:nvSpPr>
        <p:spPr>
          <a:xfrm>
            <a:off x="4754880" y="1874520"/>
            <a:ext cx="1645920" cy="5943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7 gold tables: margin leakage, promotions, stock-outs, loyalty, basket affinity, data trust</a:t>
            </a:r>
            <a:endParaRPr lang="en-US" sz="1200" dirty="0"/>
          </a:p>
        </p:txBody>
      </p:sp>
      <p:sp>
        <p:nvSpPr>
          <p:cNvPr id="18" name="Text 16"/>
          <p:cNvSpPr txBox="1"/>
          <p:nvPr/>
        </p:nvSpPr>
        <p:spPr>
          <a:xfrm>
            <a:off x="4663440" y="2697480"/>
            <a:ext cx="1828800" cy="228600"/>
          </a:xfrm>
          <a:prstGeom prst="rect">
            <a:avLst/>
          </a:prstGeom>
          <a:noFill/>
          <a:ln/>
        </p:spPr>
        <p:txBody>
          <a:bodyPr wrap="square" lIns="0" tIns="0" rIns="0" bIns="0" rtlCol="0" anchor="ctr"/>
          <a:lstStyle/>
          <a:p>
            <a:pPr marL="0" indent="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19" name="Text 17"/>
          <p:cNvSpPr txBox="1"/>
          <p:nvPr/>
        </p:nvSpPr>
        <p:spPr>
          <a:xfrm>
            <a:off x="4663440" y="2926080"/>
            <a:ext cx="1828800" cy="6400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One governed margin definition, used on every page, for every persona</a:t>
            </a:r>
            <a:endParaRPr lang="en-US" sz="1300" dirty="0"/>
          </a:p>
        </p:txBody>
      </p:sp>
      <p:sp>
        <p:nvSpPr>
          <p:cNvPr id="20" name="Text 18"/>
          <p:cNvSpPr txBox="1"/>
          <p:nvPr/>
        </p:nvSpPr>
        <p:spPr>
          <a:xfrm>
            <a:off x="6492240" y="1645920"/>
            <a:ext cx="228600" cy="548640"/>
          </a:xfrm>
          <a:prstGeom prst="rect">
            <a:avLst/>
          </a:prstGeom>
          <a:noFill/>
          <a:ln/>
        </p:spPr>
        <p:txBody>
          <a:bodyPr wrap="square" lIns="0" tIns="0" rIns="0" bIns="0" rtlCol="0" anchor="ctr"/>
          <a:lstStyle/>
          <a:p>
            <a:pPr marL="0" indent="0" algn="ctr">
              <a:buNone/>
            </a:pPr>
            <a:r>
              <a:rPr lang="en-US" sz="2000" dirty="0">
                <a:solidFill>
                  <a:srgbClr val="6B7280"/>
                </a:solidFill>
                <a:latin typeface="Calibri" pitchFamily="34" charset="0"/>
                <a:ea typeface="Calibri" pitchFamily="34" charset="-122"/>
                <a:cs typeface="Calibri" pitchFamily="34" charset="-120"/>
              </a:rPr>
              <a:t>→</a:t>
            </a:r>
            <a:endParaRPr lang="en-US" sz="2000" dirty="0"/>
          </a:p>
        </p:txBody>
      </p:sp>
      <p:sp>
        <p:nvSpPr>
          <p:cNvPr id="21" name="flow3"/>
          <p:cNvSpPr/>
          <p:nvPr/>
        </p:nvSpPr>
        <p:spPr>
          <a:xfrm>
            <a:off x="6720840" y="1371600"/>
            <a:ext cx="1828800" cy="1188720"/>
          </a:xfrm>
          <a:prstGeom prst="rect">
            <a:avLst/>
          </a:prstGeom>
          <a:solidFill>
            <a:srgbClr val="F5F6F8"/>
          </a:solidFill>
          <a:ln w="19050">
            <a:solidFill>
              <a:srgbClr val="1F5FBF"/>
            </a:solidFill>
            <a:prstDash val="solid"/>
          </a:ln>
        </p:spPr>
        <p:txBody>
          <a:bodyPr/>
          <a:lstStyle/>
          <a:p>
            <a:endParaRPr/>
          </a:p>
        </p:txBody>
      </p:sp>
      <p:sp>
        <p:nvSpPr>
          <p:cNvPr id="22" name="Text 20"/>
          <p:cNvSpPr txBox="1"/>
          <p:nvPr/>
        </p:nvSpPr>
        <p:spPr>
          <a:xfrm>
            <a:off x="6812280" y="1463040"/>
            <a:ext cx="1645920" cy="365760"/>
          </a:xfrm>
          <a:prstGeom prst="rect">
            <a:avLst/>
          </a:prstGeom>
          <a:noFill/>
          <a:ln/>
        </p:spPr>
        <p:txBody>
          <a:bodyPr wrap="square" lIns="0" tIns="0" rIns="0" bIns="0" rtlCol="0" anchor="ctr"/>
          <a:lstStyle/>
          <a:p>
            <a:pPr marL="0" indent="0" algn="ctr">
              <a:buNone/>
            </a:pPr>
            <a:r>
              <a:rPr lang="en-US" sz="1500" b="1" dirty="0">
                <a:solidFill>
                  <a:srgbClr val="1F2933"/>
                </a:solidFill>
                <a:latin typeface="Calibri" pitchFamily="34" charset="0"/>
                <a:ea typeface="Calibri" pitchFamily="34" charset="-122"/>
                <a:cs typeface="Calibri" pitchFamily="34" charset="-120"/>
              </a:rPr>
              <a:t>What you use</a:t>
            </a:r>
            <a:endParaRPr lang="en-US" sz="1500" dirty="0"/>
          </a:p>
        </p:txBody>
      </p:sp>
      <p:sp>
        <p:nvSpPr>
          <p:cNvPr id="23" name="Text 21"/>
          <p:cNvSpPr txBox="1"/>
          <p:nvPr/>
        </p:nvSpPr>
        <p:spPr>
          <a:xfrm>
            <a:off x="6812280" y="1874520"/>
            <a:ext cx="1645920" cy="594360"/>
          </a:xfrm>
          <a:prstGeom prst="rect">
            <a:avLst/>
          </a:prstGeom>
          <a:noFill/>
          <a:ln/>
        </p:spPr>
        <p:txBody>
          <a:bodyPr wrap="square" lIns="0" tIns="0" rIns="0" bIns="0" rtlCol="0" anchor="ctr"/>
          <a:lstStyle/>
          <a:p>
            <a:pPr marL="0" indent="0" algn="ctr">
              <a:buNone/>
            </a:pPr>
            <a:r>
              <a:rPr lang="en-US" sz="1200" dirty="0">
                <a:solidFill>
                  <a:srgbClr val="6B7280"/>
                </a:solidFill>
                <a:latin typeface="Calibri" pitchFamily="34" charset="0"/>
                <a:ea typeface="Calibri" pitchFamily="34" charset="-122"/>
                <a:cs typeface="Calibri" pitchFamily="34" charset="-120"/>
              </a:rPr>
              <a:t>AI/BI dashboard (5 pages), Genie space, Streamlit app</a:t>
            </a:r>
            <a:endParaRPr lang="en-US" sz="1200" dirty="0"/>
          </a:p>
        </p:txBody>
      </p:sp>
      <p:sp>
        <p:nvSpPr>
          <p:cNvPr id="24" name="Text 22"/>
          <p:cNvSpPr txBox="1"/>
          <p:nvPr/>
        </p:nvSpPr>
        <p:spPr>
          <a:xfrm>
            <a:off x="6720840" y="2697480"/>
            <a:ext cx="1828800" cy="228600"/>
          </a:xfrm>
          <a:prstGeom prst="rect">
            <a:avLst/>
          </a:prstGeom>
          <a:noFill/>
          <a:ln/>
        </p:spPr>
        <p:txBody>
          <a:bodyPr wrap="square" lIns="0" tIns="0" rIns="0" bIns="0" rtlCol="0" anchor="ctr"/>
          <a:lstStyle/>
          <a:p>
            <a:pPr marL="0" indent="0">
              <a:buNone/>
            </a:pPr>
            <a:r>
              <a:rPr lang="en-US" sz="1100" b="1" dirty="0">
                <a:solidFill>
                  <a:srgbClr val="1F5FBF"/>
                </a:solidFill>
                <a:latin typeface="Calibri" pitchFamily="34" charset="0"/>
                <a:ea typeface="Calibri" pitchFamily="34" charset="-122"/>
                <a:cs typeface="Calibri" pitchFamily="34" charset="-120"/>
              </a:rPr>
              <a:t>Why it matters</a:t>
            </a:r>
            <a:endParaRPr lang="en-US" sz="1100" dirty="0"/>
          </a:p>
        </p:txBody>
      </p:sp>
      <p:sp>
        <p:nvSpPr>
          <p:cNvPr id="25" name="Text 23"/>
          <p:cNvSpPr txBox="1"/>
          <p:nvPr/>
        </p:nvSpPr>
        <p:spPr>
          <a:xfrm>
            <a:off x="6720840" y="2926080"/>
            <a:ext cx="1828800" cy="640080"/>
          </a:xfrm>
          <a:prstGeom prst="rect">
            <a:avLst/>
          </a:prstGeom>
          <a:noFill/>
          <a:ln/>
        </p:spPr>
        <p:txBody>
          <a:bodyPr wrap="square" lIns="0" tIns="0" rIns="0" bIns="0" rtlCol="0" anchor="t"/>
          <a:lstStyle/>
          <a:p>
            <a:pPr marL="0" indent="0">
              <a:buNone/>
            </a:pPr>
            <a:r>
              <a:rPr lang="en-US" sz="1300" dirty="0">
                <a:solidFill>
                  <a:srgbClr val="1F2933"/>
                </a:solidFill>
                <a:latin typeface="Calibri" pitchFamily="34" charset="0"/>
                <a:ea typeface="Calibri" pitchFamily="34" charset="-122"/>
                <a:cs typeface="Calibri" pitchFamily="34" charset="-120"/>
              </a:rPr>
              <a:t>Each persona's question answered in the format they will actually use</a:t>
            </a:r>
            <a:endParaRPr lang="en-US" sz="1300" dirty="0"/>
          </a:p>
        </p:txBody>
      </p:sp>
      <p:sp>
        <p:nvSpPr>
          <p:cNvPr id="26" name="leg1"/>
          <p:cNvSpPr/>
          <p:nvPr/>
        </p:nvSpPr>
        <p:spPr>
          <a:xfrm>
            <a:off x="548640" y="4023360"/>
            <a:ext cx="228600" cy="228600"/>
          </a:xfrm>
          <a:prstGeom prst="rect">
            <a:avLst/>
          </a:prstGeom>
          <a:solidFill>
            <a:srgbClr val="F5F6F8"/>
          </a:solidFill>
          <a:ln w="19050">
            <a:solidFill>
              <a:srgbClr val="1F5FBF"/>
            </a:solidFill>
            <a:prstDash val="solid"/>
          </a:ln>
        </p:spPr>
        <p:txBody>
          <a:bodyPr/>
          <a:lstStyle/>
          <a:p>
            <a:endParaRPr/>
          </a:p>
        </p:txBody>
      </p:sp>
      <p:sp>
        <p:nvSpPr>
          <p:cNvPr id="27" name="Text 25"/>
          <p:cNvSpPr txBox="1"/>
          <p:nvPr/>
        </p:nvSpPr>
        <p:spPr>
          <a:xfrm>
            <a:off x="914400" y="4005072"/>
            <a:ext cx="22860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Built and shown today</a:t>
            </a:r>
            <a:endParaRPr lang="en-US" sz="1200" dirty="0"/>
          </a:p>
        </p:txBody>
      </p:sp>
      <p:sp>
        <p:nvSpPr>
          <p:cNvPr id="28" name="leg2"/>
          <p:cNvSpPr/>
          <p:nvPr/>
        </p:nvSpPr>
        <p:spPr>
          <a:xfrm>
            <a:off x="3383280" y="4023360"/>
            <a:ext cx="228600" cy="228600"/>
          </a:xfrm>
          <a:prstGeom prst="rect">
            <a:avLst/>
          </a:prstGeom>
          <a:solidFill>
            <a:srgbClr val="FFFFFF"/>
          </a:solidFill>
          <a:ln w="19050">
            <a:solidFill>
              <a:srgbClr val="6B7280"/>
            </a:solidFill>
            <a:prstDash val="dash"/>
          </a:ln>
        </p:spPr>
        <p:txBody>
          <a:bodyPr/>
          <a:lstStyle/>
          <a:p>
            <a:endParaRPr/>
          </a:p>
        </p:txBody>
      </p:sp>
      <p:sp>
        <p:nvSpPr>
          <p:cNvPr id="29" name="Text 27"/>
          <p:cNvSpPr txBox="1"/>
          <p:nvPr/>
        </p:nvSpPr>
        <p:spPr>
          <a:xfrm>
            <a:off x="3749040" y="4005072"/>
            <a:ext cx="2743200" cy="274320"/>
          </a:xfrm>
          <a:prstGeom prst="rect">
            <a:avLst/>
          </a:prstGeom>
          <a:noFill/>
          <a:ln/>
        </p:spPr>
        <p:txBody>
          <a:bodyPr wrap="square" lIns="0" tIns="0" rIns="0" bIns="0" rtlCol="0" anchor="ctr"/>
          <a:lstStyle/>
          <a:p>
            <a:pPr marL="0" indent="0">
              <a:buNone/>
            </a:pPr>
            <a:r>
              <a:rPr lang="en-US" sz="1200" dirty="0">
                <a:solidFill>
                  <a:srgbClr val="1F2933"/>
                </a:solidFill>
                <a:latin typeface="Calibri" pitchFamily="34" charset="0"/>
                <a:ea typeface="Calibri" pitchFamily="34" charset="-122"/>
                <a:cs typeface="Calibri" pitchFamily="34" charset="-120"/>
              </a:rPr>
              <a:t>Assumed or on the roadmap</a:t>
            </a:r>
            <a:endParaRPr lang="en-US" sz="1200" dirty="0"/>
          </a:p>
        </p:txBody>
      </p:sp>
      <p:sp>
        <p:nvSpPr>
          <p:cNvPr id="30"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A two-week pilot, with a clear path to go-live</a:t>
            </a:r>
            <a:endParaRPr lang="en-US" sz="3000" dirty="0"/>
          </a:p>
        </p:txBody>
      </p:sp>
      <p:sp>
        <p:nvSpPr>
          <p:cNvPr id="3" name="ph0"/>
          <p:cNvSpPr/>
          <p:nvPr/>
        </p:nvSpPr>
        <p:spPr>
          <a:xfrm>
            <a:off x="548640" y="1280160"/>
            <a:ext cx="2560320" cy="2011680"/>
          </a:xfrm>
          <a:prstGeom prst="rect">
            <a:avLst/>
          </a:prstGeom>
          <a:solidFill>
            <a:srgbClr val="FFFFFF"/>
          </a:solidFill>
          <a:ln w="9525">
            <a:solidFill>
              <a:srgbClr val="D9DCE1"/>
            </a:solidFill>
            <a:prstDash val="solid"/>
          </a:ln>
        </p:spPr>
        <p:txBody>
          <a:bodyPr/>
          <a:lstStyle/>
          <a:p>
            <a:endParaRPr/>
          </a:p>
        </p:txBody>
      </p:sp>
      <p:sp>
        <p:nvSpPr>
          <p:cNvPr id="4" name="Shape 2"/>
          <p:cNvSpPr/>
          <p:nvPr/>
        </p:nvSpPr>
        <p:spPr>
          <a:xfrm>
            <a:off x="548640" y="1280160"/>
            <a:ext cx="2560320" cy="0"/>
          </a:xfrm>
          <a:prstGeom prst="line">
            <a:avLst/>
          </a:prstGeom>
          <a:noFill/>
          <a:ln w="38100">
            <a:solidFill>
              <a:srgbClr val="1F5FBF"/>
            </a:solidFill>
            <a:prstDash val="solid"/>
          </a:ln>
        </p:spPr>
        <p:txBody>
          <a:bodyPr/>
          <a:lstStyle/>
          <a:p>
            <a:endParaRPr/>
          </a:p>
        </p:txBody>
      </p:sp>
      <p:sp>
        <p:nvSpPr>
          <p:cNvPr id="5" name="Text 3"/>
          <p:cNvSpPr txBox="1"/>
          <p:nvPr/>
        </p:nvSpPr>
        <p:spPr>
          <a:xfrm>
            <a:off x="731520" y="1417320"/>
            <a:ext cx="2194560" cy="365760"/>
          </a:xfrm>
          <a:prstGeom prst="rect">
            <a:avLst/>
          </a:prstGeom>
          <a:noFill/>
          <a:ln/>
        </p:spPr>
        <p:txBody>
          <a:bodyPr wrap="square" lIns="0" tIns="0" rIns="0" bIns="0" rtlCol="0" anchor="ctr"/>
          <a:lstStyle/>
          <a:p>
            <a:pPr marL="0" indent="0">
              <a:buNone/>
            </a:pPr>
            <a:r>
              <a:rPr lang="en-US" sz="1800" b="1" dirty="0">
                <a:solidFill>
                  <a:srgbClr val="1F5FBF"/>
                </a:solidFill>
                <a:latin typeface="Calibri" pitchFamily="34" charset="0"/>
                <a:ea typeface="Calibri" pitchFamily="34" charset="-122"/>
                <a:cs typeface="Calibri" pitchFamily="34" charset="-120"/>
              </a:rPr>
              <a:t>Pilot</a:t>
            </a:r>
            <a:endParaRPr lang="en-US" sz="1800" dirty="0"/>
          </a:p>
        </p:txBody>
      </p:sp>
      <p:sp>
        <p:nvSpPr>
          <p:cNvPr id="6" name="Text 4"/>
          <p:cNvSpPr txBox="1"/>
          <p:nvPr/>
        </p:nvSpPr>
        <p:spPr>
          <a:xfrm>
            <a:off x="731520" y="1783080"/>
            <a:ext cx="2194560" cy="320040"/>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Mon 2 Nov to Fri 13 Nov 2026</a:t>
            </a:r>
            <a:endParaRPr lang="en-US" sz="1400" dirty="0"/>
          </a:p>
        </p:txBody>
      </p:sp>
      <p:sp>
        <p:nvSpPr>
          <p:cNvPr id="7" name="Text 5"/>
          <p:cNvSpPr txBox="1"/>
          <p:nvPr/>
        </p:nvSpPr>
        <p:spPr>
          <a:xfrm>
            <a:off x="7315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Margin, promotions and stock-out exposure on this dataset</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Named owner on both sides, agreed at kickoff</a:t>
            </a:r>
            <a:endParaRPr lang="en-US" sz="1300" dirty="0"/>
          </a:p>
        </p:txBody>
      </p:sp>
      <p:sp>
        <p:nvSpPr>
          <p:cNvPr id="8" name="ph1"/>
          <p:cNvSpPr/>
          <p:nvPr/>
        </p:nvSpPr>
        <p:spPr>
          <a:xfrm>
            <a:off x="3291840" y="1280160"/>
            <a:ext cx="2560320" cy="2011680"/>
          </a:xfrm>
          <a:prstGeom prst="rect">
            <a:avLst/>
          </a:prstGeom>
          <a:solidFill>
            <a:srgbClr val="FFFFFF"/>
          </a:solidFill>
          <a:ln w="9525">
            <a:solidFill>
              <a:srgbClr val="D9DCE1"/>
            </a:solidFill>
            <a:prstDash val="solid"/>
          </a:ln>
        </p:spPr>
        <p:txBody>
          <a:bodyPr/>
          <a:lstStyle/>
          <a:p>
            <a:endParaRPr/>
          </a:p>
        </p:txBody>
      </p:sp>
      <p:sp>
        <p:nvSpPr>
          <p:cNvPr id="9" name="Shape 7"/>
          <p:cNvSpPr/>
          <p:nvPr/>
        </p:nvSpPr>
        <p:spPr>
          <a:xfrm>
            <a:off x="3291840" y="1280160"/>
            <a:ext cx="2560320" cy="0"/>
          </a:xfrm>
          <a:prstGeom prst="line">
            <a:avLst/>
          </a:prstGeom>
          <a:noFill/>
          <a:ln w="38100">
            <a:solidFill>
              <a:srgbClr val="1F5FBF"/>
            </a:solidFill>
            <a:prstDash val="solid"/>
          </a:ln>
        </p:spPr>
        <p:txBody>
          <a:bodyPr/>
          <a:lstStyle/>
          <a:p>
            <a:endParaRPr/>
          </a:p>
        </p:txBody>
      </p:sp>
      <p:sp>
        <p:nvSpPr>
          <p:cNvPr id="10" name="Text 8"/>
          <p:cNvSpPr txBox="1"/>
          <p:nvPr/>
        </p:nvSpPr>
        <p:spPr>
          <a:xfrm>
            <a:off x="3474720" y="1417320"/>
            <a:ext cx="2194560" cy="365760"/>
          </a:xfrm>
          <a:prstGeom prst="rect">
            <a:avLst/>
          </a:prstGeom>
          <a:noFill/>
          <a:ln/>
        </p:spPr>
        <p:txBody>
          <a:bodyPr wrap="square" lIns="0" tIns="0" rIns="0" bIns="0" rtlCol="0" anchor="ctr"/>
          <a:lstStyle/>
          <a:p>
            <a:pPr marL="0" indent="0">
              <a:buNone/>
            </a:pPr>
            <a:r>
              <a:rPr lang="en-US" sz="1800" b="1" dirty="0">
                <a:solidFill>
                  <a:srgbClr val="1F5FBF"/>
                </a:solidFill>
                <a:latin typeface="Calibri" pitchFamily="34" charset="0"/>
                <a:ea typeface="Calibri" pitchFamily="34" charset="-122"/>
                <a:cs typeface="Calibri" pitchFamily="34" charset="-120"/>
              </a:rPr>
              <a:t>Adjust</a:t>
            </a:r>
            <a:endParaRPr lang="en-US" sz="1800" dirty="0"/>
          </a:p>
        </p:txBody>
      </p:sp>
      <p:sp>
        <p:nvSpPr>
          <p:cNvPr id="11" name="Text 9"/>
          <p:cNvSpPr txBox="1"/>
          <p:nvPr/>
        </p:nvSpPr>
        <p:spPr>
          <a:xfrm>
            <a:off x="3474720" y="1783080"/>
            <a:ext cx="2194560" cy="320040"/>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16 to 20 Nov 2026 (1 week)</a:t>
            </a:r>
            <a:endParaRPr lang="en-US" sz="1400" dirty="0"/>
          </a:p>
        </p:txBody>
      </p:sp>
      <p:sp>
        <p:nvSpPr>
          <p:cNvPr id="12" name="Text 10"/>
          <p:cNvSpPr txBox="1"/>
          <p:nvPr/>
        </p:nvSpPr>
        <p:spPr>
          <a:xfrm>
            <a:off x="34747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Tweaks from what we learn</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Review against the measure</a:t>
            </a:r>
            <a:endParaRPr lang="en-US" sz="1300" dirty="0"/>
          </a:p>
        </p:txBody>
      </p:sp>
      <p:sp>
        <p:nvSpPr>
          <p:cNvPr id="13" name="ph2"/>
          <p:cNvSpPr/>
          <p:nvPr/>
        </p:nvSpPr>
        <p:spPr>
          <a:xfrm>
            <a:off x="6035040" y="1280160"/>
            <a:ext cx="2560320" cy="2011680"/>
          </a:xfrm>
          <a:prstGeom prst="rect">
            <a:avLst/>
          </a:prstGeom>
          <a:solidFill>
            <a:srgbClr val="FFFFFF"/>
          </a:solidFill>
          <a:ln w="9525">
            <a:solidFill>
              <a:srgbClr val="D9DCE1"/>
            </a:solidFill>
            <a:prstDash val="solid"/>
          </a:ln>
        </p:spPr>
        <p:txBody>
          <a:bodyPr/>
          <a:lstStyle/>
          <a:p>
            <a:endParaRPr/>
          </a:p>
        </p:txBody>
      </p:sp>
      <p:sp>
        <p:nvSpPr>
          <p:cNvPr id="14" name="Shape 12"/>
          <p:cNvSpPr/>
          <p:nvPr/>
        </p:nvSpPr>
        <p:spPr>
          <a:xfrm>
            <a:off x="6035040" y="1280160"/>
            <a:ext cx="2560320" cy="0"/>
          </a:xfrm>
          <a:prstGeom prst="line">
            <a:avLst/>
          </a:prstGeom>
          <a:noFill/>
          <a:ln w="38100">
            <a:solidFill>
              <a:srgbClr val="1F5FBF"/>
            </a:solidFill>
            <a:prstDash val="solid"/>
          </a:ln>
        </p:spPr>
        <p:txBody>
          <a:bodyPr/>
          <a:lstStyle/>
          <a:p>
            <a:endParaRPr/>
          </a:p>
        </p:txBody>
      </p:sp>
      <p:sp>
        <p:nvSpPr>
          <p:cNvPr id="15" name="Text 13"/>
          <p:cNvSpPr txBox="1"/>
          <p:nvPr/>
        </p:nvSpPr>
        <p:spPr>
          <a:xfrm>
            <a:off x="6217920" y="1417320"/>
            <a:ext cx="2194560" cy="365760"/>
          </a:xfrm>
          <a:prstGeom prst="rect">
            <a:avLst/>
          </a:prstGeom>
          <a:noFill/>
          <a:ln/>
        </p:spPr>
        <p:txBody>
          <a:bodyPr wrap="square" lIns="0" tIns="0" rIns="0" bIns="0" rtlCol="0" anchor="ctr"/>
          <a:lstStyle/>
          <a:p>
            <a:pPr marL="0" indent="0">
              <a:buNone/>
            </a:pPr>
            <a:r>
              <a:rPr lang="en-US" sz="1800" b="1" dirty="0">
                <a:solidFill>
                  <a:srgbClr val="1F5FBF"/>
                </a:solidFill>
                <a:latin typeface="Calibri" pitchFamily="34" charset="0"/>
                <a:ea typeface="Calibri" pitchFamily="34" charset="-122"/>
                <a:cs typeface="Calibri" pitchFamily="34" charset="-120"/>
              </a:rPr>
              <a:t>Go live</a:t>
            </a:r>
            <a:endParaRPr lang="en-US" sz="1800" dirty="0"/>
          </a:p>
        </p:txBody>
      </p:sp>
      <p:sp>
        <p:nvSpPr>
          <p:cNvPr id="16" name="Text 14"/>
          <p:cNvSpPr txBox="1"/>
          <p:nvPr/>
        </p:nvSpPr>
        <p:spPr>
          <a:xfrm>
            <a:off x="6217920" y="1783080"/>
            <a:ext cx="2194560" cy="320040"/>
          </a:xfrm>
          <a:prstGeom prst="rect">
            <a:avLst/>
          </a:prstGeom>
          <a:noFill/>
          <a:ln/>
        </p:spPr>
        <p:txBody>
          <a:bodyPr wrap="square" lIns="0" tIns="0" rIns="0" bIns="0" rtlCol="0" anchor="ctr"/>
          <a:lstStyle/>
          <a:p>
            <a:pPr marL="0" indent="0">
              <a:buNone/>
            </a:pPr>
            <a:r>
              <a:rPr lang="en-US" sz="1400" b="1" dirty="0">
                <a:solidFill>
                  <a:srgbClr val="1F2933"/>
                </a:solidFill>
                <a:latin typeface="Calibri" pitchFamily="34" charset="0"/>
                <a:ea typeface="Calibri" pitchFamily="34" charset="-122"/>
                <a:cs typeface="Calibri" pitchFamily="34" charset="-120"/>
              </a:rPr>
              <a:t>Week of 23 Nov 2026</a:t>
            </a:r>
            <a:endParaRPr lang="en-US" sz="1400" dirty="0"/>
          </a:p>
        </p:txBody>
      </p:sp>
      <p:sp>
        <p:nvSpPr>
          <p:cNvPr id="17" name="Text 15"/>
          <p:cNvSpPr txBox="1"/>
          <p:nvPr/>
        </p:nvSpPr>
        <p:spPr>
          <a:xfrm>
            <a:off x="6217920" y="2194560"/>
            <a:ext cx="21945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Rollout to the first teams</a:t>
            </a:r>
            <a:endParaRPr lang="en-US" sz="1300" dirty="0"/>
          </a:p>
          <a:p>
            <a:pPr marL="342900" indent="-342900">
              <a:spcAft>
                <a:spcPts val="600"/>
              </a:spcAft>
              <a:buSzPct val="100000"/>
              <a:buChar char="•"/>
            </a:pPr>
            <a:r>
              <a:rPr lang="en-US" sz="1300" dirty="0">
                <a:solidFill>
                  <a:srgbClr val="1F2933"/>
                </a:solidFill>
                <a:latin typeface="Calibri" pitchFamily="34" charset="0"/>
                <a:ea typeface="Calibri" pitchFamily="34" charset="-122"/>
                <a:cs typeface="Calibri" pitchFamily="34" charset="-120"/>
              </a:rPr>
              <a:t>Owners and support</a:t>
            </a:r>
            <a:endParaRPr lang="en-US" sz="1300" dirty="0"/>
          </a:p>
        </p:txBody>
      </p:sp>
      <p:sp>
        <p:nvSpPr>
          <p:cNvPr id="18" name="Text 16"/>
          <p:cNvSpPr txBox="1"/>
          <p:nvPr/>
        </p:nvSpPr>
        <p:spPr>
          <a:xfrm>
            <a:off x="548640" y="3520440"/>
            <a:ext cx="8046720" cy="365760"/>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Success at end of pilot: one governed margin number in use  |  promotion verdicts available within days of a promotion ending  |  every pipeline break explained</a:t>
            </a:r>
            <a:endParaRPr lang="en-US" sz="1500" dirty="0"/>
          </a:p>
        </p:txBody>
      </p:sp>
      <p:sp>
        <p:nvSpPr>
          <p:cNvPr id="19" name="Text 17"/>
          <p:cNvSpPr txBox="1"/>
          <p:nvPr/>
        </p:nvSpPr>
        <p:spPr>
          <a:xfrm>
            <a:off x="548640" y="3977640"/>
            <a:ext cx="8046720" cy="365760"/>
          </a:xfrm>
          <a:prstGeom prst="rect">
            <a:avLst/>
          </a:prstGeom>
          <a:noFill/>
          <a:ln/>
        </p:spPr>
        <p:txBody>
          <a:bodyPr wrap="square" lIns="0" tIns="0" rIns="0" bIns="0" rtlCol="0" anchor="ctr"/>
          <a:lstStyle/>
          <a:p>
            <a:pPr marL="0" indent="0">
              <a:buNone/>
            </a:pPr>
            <a:r>
              <a:rPr lang="en-US" sz="1400" dirty="0">
                <a:solidFill>
                  <a:srgbClr val="6B7280"/>
                </a:solidFill>
                <a:latin typeface="Calibri" pitchFamily="34" charset="0"/>
                <a:ea typeface="Calibri" pitchFamily="34" charset="-122"/>
                <a:cs typeface="Calibri" pitchFamily="34" charset="-120"/>
              </a:rPr>
              <a:t>What I need from you: read access to a POS / inventory / loyalty / promotions sample  |  two named owners (data and business)  |  a go/no-go decision by Fri 13 Nov 2026</a:t>
            </a:r>
            <a:endParaRPr lang="en-US" sz="14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Next steps</a:t>
            </a:r>
            <a:endParaRPr lang="en-US" sz="3000" dirty="0"/>
          </a:p>
        </p:txBody>
      </p:sp>
      <p:sp>
        <p:nvSpPr>
          <p:cNvPr id="3" name="Shape 1"/>
          <p:cNvSpPr/>
          <p:nvPr/>
        </p:nvSpPr>
        <p:spPr>
          <a:xfrm>
            <a:off x="548640" y="1097280"/>
            <a:ext cx="1097280" cy="0"/>
          </a:xfrm>
          <a:prstGeom prst="line">
            <a:avLst/>
          </a:prstGeom>
          <a:noFill/>
          <a:ln w="25400">
            <a:solidFill>
              <a:srgbClr val="1F5FBF"/>
            </a:solidFill>
            <a:prstDash val="solid"/>
          </a:ln>
        </p:spPr>
        <p:txBody>
          <a:bodyPr/>
          <a:lstStyle/>
          <a:p>
            <a:endParaRPr/>
          </a:p>
        </p:txBody>
      </p:sp>
      <p:sp>
        <p:nvSpPr>
          <p:cNvPr id="4" name="ns0"/>
          <p:cNvSpPr/>
          <p:nvPr/>
        </p:nvSpPr>
        <p:spPr>
          <a:xfrm>
            <a:off x="548640" y="1371600"/>
            <a:ext cx="8046720" cy="566928"/>
          </a:xfrm>
          <a:prstGeom prst="rect">
            <a:avLst/>
          </a:prstGeom>
          <a:solidFill>
            <a:srgbClr val="FFFFFF"/>
          </a:solidFill>
          <a:ln w="9525">
            <a:solidFill>
              <a:srgbClr val="D9DCE1"/>
            </a:solidFill>
            <a:prstDash val="solid"/>
          </a:ln>
        </p:spPr>
        <p:txBody>
          <a:bodyPr/>
          <a:lstStyle/>
          <a:p>
            <a:endParaRPr/>
          </a:p>
        </p:txBody>
      </p:sp>
      <p:sp>
        <p:nvSpPr>
          <p:cNvPr id="5" name="Text 3"/>
          <p:cNvSpPr txBox="1"/>
          <p:nvPr/>
        </p:nvSpPr>
        <p:spPr>
          <a:xfrm>
            <a:off x="731520" y="1371600"/>
            <a:ext cx="2011680" cy="566928"/>
          </a:xfrm>
          <a:prstGeom prst="rect">
            <a:avLst/>
          </a:prstGeom>
          <a:noFill/>
          <a:ln/>
        </p:spPr>
        <p:txBody>
          <a:bodyPr wrap="square" lIns="0" tIns="0" rIns="0" bIns="0" rtlCol="0" anchor="ctr"/>
          <a:lstStyle/>
          <a:p>
            <a:pPr marL="0" indent="0">
              <a:buNone/>
            </a:pPr>
            <a:r>
              <a:rPr lang="en-US" sz="1500" b="1" dirty="0">
                <a:solidFill>
                  <a:srgbClr val="1F5FBF"/>
                </a:solidFill>
                <a:latin typeface="Calibri" pitchFamily="34" charset="0"/>
                <a:ea typeface="Calibri" pitchFamily="34" charset="-122"/>
                <a:cs typeface="Calibri" pitchFamily="34" charset="-120"/>
              </a:rPr>
              <a:t>Mon 2 Nov 2026</a:t>
            </a:r>
            <a:endParaRPr lang="en-US" sz="1500" dirty="0"/>
          </a:p>
        </p:txBody>
      </p:sp>
      <p:sp>
        <p:nvSpPr>
          <p:cNvPr id="6" name="Text 4"/>
          <p:cNvSpPr txBox="1"/>
          <p:nvPr/>
        </p:nvSpPr>
        <p:spPr>
          <a:xfrm>
            <a:off x="2834640" y="1371600"/>
            <a:ext cx="2560320" cy="566928"/>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Pilot kickoff</a:t>
            </a:r>
            <a:endParaRPr lang="en-US" sz="1500" dirty="0"/>
          </a:p>
        </p:txBody>
      </p:sp>
      <p:sp>
        <p:nvSpPr>
          <p:cNvPr id="7" name="Text 5"/>
          <p:cNvSpPr txBox="1"/>
          <p:nvPr/>
        </p:nvSpPr>
        <p:spPr>
          <a:xfrm>
            <a:off x="5486400" y="1371600"/>
            <a:ext cx="2926080" cy="56692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Owner on both sides</a:t>
            </a:r>
            <a:endParaRPr lang="en-US" sz="1300" dirty="0"/>
          </a:p>
        </p:txBody>
      </p:sp>
      <p:sp>
        <p:nvSpPr>
          <p:cNvPr id="8" name="ns1"/>
          <p:cNvSpPr/>
          <p:nvPr/>
        </p:nvSpPr>
        <p:spPr>
          <a:xfrm>
            <a:off x="548640" y="2057400"/>
            <a:ext cx="8046720" cy="566928"/>
          </a:xfrm>
          <a:prstGeom prst="rect">
            <a:avLst/>
          </a:prstGeom>
          <a:solidFill>
            <a:srgbClr val="FFFFFF"/>
          </a:solidFill>
          <a:ln w="9525">
            <a:solidFill>
              <a:srgbClr val="D9DCE1"/>
            </a:solidFill>
            <a:prstDash val="solid"/>
          </a:ln>
        </p:spPr>
        <p:txBody>
          <a:bodyPr/>
          <a:lstStyle/>
          <a:p>
            <a:endParaRPr/>
          </a:p>
        </p:txBody>
      </p:sp>
      <p:sp>
        <p:nvSpPr>
          <p:cNvPr id="9" name="Text 7"/>
          <p:cNvSpPr txBox="1"/>
          <p:nvPr/>
        </p:nvSpPr>
        <p:spPr>
          <a:xfrm>
            <a:off x="731520" y="2057400"/>
            <a:ext cx="2011680" cy="566928"/>
          </a:xfrm>
          <a:prstGeom prst="rect">
            <a:avLst/>
          </a:prstGeom>
          <a:noFill/>
          <a:ln/>
        </p:spPr>
        <p:txBody>
          <a:bodyPr wrap="square" lIns="0" tIns="0" rIns="0" bIns="0" rtlCol="0" anchor="ctr"/>
          <a:lstStyle/>
          <a:p>
            <a:pPr marL="0" indent="0">
              <a:buNone/>
            </a:pPr>
            <a:r>
              <a:rPr lang="en-US" sz="1500" b="1" dirty="0">
                <a:solidFill>
                  <a:srgbClr val="1F5FBF"/>
                </a:solidFill>
                <a:latin typeface="Calibri" pitchFamily="34" charset="0"/>
                <a:ea typeface="Calibri" pitchFamily="34" charset="-122"/>
                <a:cs typeface="Calibri" pitchFamily="34" charset="-120"/>
              </a:rPr>
              <a:t>Fri 13 Nov 2026</a:t>
            </a:r>
            <a:endParaRPr lang="en-US" sz="1500" dirty="0"/>
          </a:p>
        </p:txBody>
      </p:sp>
      <p:sp>
        <p:nvSpPr>
          <p:cNvPr id="10" name="Text 8"/>
          <p:cNvSpPr txBox="1"/>
          <p:nvPr/>
        </p:nvSpPr>
        <p:spPr>
          <a:xfrm>
            <a:off x="2834640" y="2057400"/>
            <a:ext cx="2560320" cy="566928"/>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End-of-pilot review</a:t>
            </a:r>
            <a:endParaRPr lang="en-US" sz="1500" dirty="0"/>
          </a:p>
        </p:txBody>
      </p:sp>
      <p:sp>
        <p:nvSpPr>
          <p:cNvPr id="11" name="Text 9"/>
          <p:cNvSpPr txBox="1"/>
          <p:nvPr/>
        </p:nvSpPr>
        <p:spPr>
          <a:xfrm>
            <a:off x="5486400" y="2057400"/>
            <a:ext cx="2926080" cy="56692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Against the measures on slide 3</a:t>
            </a:r>
            <a:endParaRPr lang="en-US" sz="1300" dirty="0"/>
          </a:p>
        </p:txBody>
      </p:sp>
      <p:sp>
        <p:nvSpPr>
          <p:cNvPr id="12" name="ns2"/>
          <p:cNvSpPr/>
          <p:nvPr/>
        </p:nvSpPr>
        <p:spPr>
          <a:xfrm>
            <a:off x="548640" y="2743200"/>
            <a:ext cx="8046720" cy="566928"/>
          </a:xfrm>
          <a:prstGeom prst="rect">
            <a:avLst/>
          </a:prstGeom>
          <a:solidFill>
            <a:srgbClr val="FFFFFF"/>
          </a:solidFill>
          <a:ln w="9525">
            <a:solidFill>
              <a:srgbClr val="D9DCE1"/>
            </a:solidFill>
            <a:prstDash val="solid"/>
          </a:ln>
        </p:spPr>
        <p:txBody>
          <a:bodyPr/>
          <a:lstStyle/>
          <a:p>
            <a:endParaRPr/>
          </a:p>
        </p:txBody>
      </p:sp>
      <p:sp>
        <p:nvSpPr>
          <p:cNvPr id="13" name="Text 11"/>
          <p:cNvSpPr txBox="1"/>
          <p:nvPr/>
        </p:nvSpPr>
        <p:spPr>
          <a:xfrm>
            <a:off x="731520" y="2743200"/>
            <a:ext cx="2011680" cy="566928"/>
          </a:xfrm>
          <a:prstGeom prst="rect">
            <a:avLst/>
          </a:prstGeom>
          <a:noFill/>
          <a:ln/>
        </p:spPr>
        <p:txBody>
          <a:bodyPr wrap="square" lIns="0" tIns="0" rIns="0" bIns="0" rtlCol="0" anchor="ctr"/>
          <a:lstStyle/>
          <a:p>
            <a:pPr marL="0" indent="0">
              <a:buNone/>
            </a:pPr>
            <a:r>
              <a:rPr lang="en-US" sz="1500" b="1" dirty="0">
                <a:solidFill>
                  <a:srgbClr val="1F5FBF"/>
                </a:solidFill>
                <a:latin typeface="Calibri" pitchFamily="34" charset="0"/>
                <a:ea typeface="Calibri" pitchFamily="34" charset="-122"/>
                <a:cs typeface="Calibri" pitchFamily="34" charset="-120"/>
              </a:rPr>
              <a:t>Fri 20 Nov 2026</a:t>
            </a:r>
            <a:endParaRPr lang="en-US" sz="1500" dirty="0"/>
          </a:p>
        </p:txBody>
      </p:sp>
      <p:sp>
        <p:nvSpPr>
          <p:cNvPr id="14" name="Text 12"/>
          <p:cNvSpPr txBox="1"/>
          <p:nvPr/>
        </p:nvSpPr>
        <p:spPr>
          <a:xfrm>
            <a:off x="2834640" y="2743200"/>
            <a:ext cx="2560320" cy="566928"/>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Adjustment complete</a:t>
            </a:r>
            <a:endParaRPr lang="en-US" sz="1500" dirty="0"/>
          </a:p>
        </p:txBody>
      </p:sp>
      <p:sp>
        <p:nvSpPr>
          <p:cNvPr id="15" name="Text 13"/>
          <p:cNvSpPr txBox="1"/>
          <p:nvPr/>
        </p:nvSpPr>
        <p:spPr>
          <a:xfrm>
            <a:off x="5486400" y="2743200"/>
            <a:ext cx="2926080" cy="56692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Decision to go live</a:t>
            </a:r>
            <a:endParaRPr lang="en-US" sz="1300" dirty="0"/>
          </a:p>
        </p:txBody>
      </p:sp>
      <p:sp>
        <p:nvSpPr>
          <p:cNvPr id="16" name="ns3"/>
          <p:cNvSpPr/>
          <p:nvPr/>
        </p:nvSpPr>
        <p:spPr>
          <a:xfrm>
            <a:off x="548640" y="3429000"/>
            <a:ext cx="8046720" cy="566928"/>
          </a:xfrm>
          <a:prstGeom prst="rect">
            <a:avLst/>
          </a:prstGeom>
          <a:solidFill>
            <a:srgbClr val="FFFFFF"/>
          </a:solidFill>
          <a:ln w="9525">
            <a:solidFill>
              <a:srgbClr val="D9DCE1"/>
            </a:solidFill>
            <a:prstDash val="solid"/>
          </a:ln>
        </p:spPr>
        <p:txBody>
          <a:bodyPr/>
          <a:lstStyle/>
          <a:p>
            <a:endParaRPr/>
          </a:p>
        </p:txBody>
      </p:sp>
      <p:sp>
        <p:nvSpPr>
          <p:cNvPr id="17" name="Text 15"/>
          <p:cNvSpPr txBox="1"/>
          <p:nvPr/>
        </p:nvSpPr>
        <p:spPr>
          <a:xfrm>
            <a:off x="731520" y="3429000"/>
            <a:ext cx="2011680" cy="566928"/>
          </a:xfrm>
          <a:prstGeom prst="rect">
            <a:avLst/>
          </a:prstGeom>
          <a:noFill/>
          <a:ln/>
        </p:spPr>
        <p:txBody>
          <a:bodyPr wrap="square" lIns="0" tIns="0" rIns="0" bIns="0" rtlCol="0" anchor="ctr"/>
          <a:lstStyle/>
          <a:p>
            <a:pPr marL="0" indent="0">
              <a:buNone/>
            </a:pPr>
            <a:r>
              <a:rPr lang="en-US" sz="1500" b="1" dirty="0">
                <a:solidFill>
                  <a:srgbClr val="1F5FBF"/>
                </a:solidFill>
                <a:latin typeface="Calibri" pitchFamily="34" charset="0"/>
                <a:ea typeface="Calibri" pitchFamily="34" charset="-122"/>
                <a:cs typeface="Calibri" pitchFamily="34" charset="-120"/>
              </a:rPr>
              <a:t>Week of 23 Nov 2026</a:t>
            </a:r>
            <a:endParaRPr lang="en-US" sz="1500" dirty="0"/>
          </a:p>
        </p:txBody>
      </p:sp>
      <p:sp>
        <p:nvSpPr>
          <p:cNvPr id="18" name="Text 16"/>
          <p:cNvSpPr txBox="1"/>
          <p:nvPr/>
        </p:nvSpPr>
        <p:spPr>
          <a:xfrm>
            <a:off x="2834640" y="3429000"/>
            <a:ext cx="2560320" cy="566928"/>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Go live</a:t>
            </a:r>
            <a:endParaRPr lang="en-US" sz="1500" dirty="0"/>
          </a:p>
        </p:txBody>
      </p:sp>
      <p:sp>
        <p:nvSpPr>
          <p:cNvPr id="19" name="Text 17"/>
          <p:cNvSpPr txBox="1"/>
          <p:nvPr/>
        </p:nvSpPr>
        <p:spPr>
          <a:xfrm>
            <a:off x="5486400" y="3429000"/>
            <a:ext cx="2926080" cy="566928"/>
          </a:xfrm>
          <a:prstGeom prst="rect">
            <a:avLst/>
          </a:prstGeom>
          <a:noFill/>
          <a:ln/>
        </p:spPr>
        <p:txBody>
          <a:bodyPr wrap="square" lIns="0" tIns="0" rIns="0" bIns="0" rtlCol="0" anchor="ctr"/>
          <a:lstStyle/>
          <a:p>
            <a:pPr marL="0" indent="0">
              <a:buNone/>
            </a:pPr>
            <a:r>
              <a:rPr lang="en-US" sz="1300" dirty="0">
                <a:solidFill>
                  <a:srgbClr val="6B7280"/>
                </a:solidFill>
                <a:latin typeface="Calibri" pitchFamily="34" charset="0"/>
                <a:ea typeface="Calibri" pitchFamily="34" charset="-122"/>
                <a:cs typeface="Calibri" pitchFamily="34" charset="-120"/>
              </a:rPr>
              <a:t>First teams</a:t>
            </a:r>
            <a:endParaRPr lang="en-US" sz="1300" dirty="0"/>
          </a:p>
        </p:txBody>
      </p:sp>
      <p:sp>
        <p:nvSpPr>
          <p:cNvPr id="20" name="Text 18"/>
          <p:cNvSpPr txBox="1"/>
          <p:nvPr/>
        </p:nvSpPr>
        <p:spPr>
          <a:xfrm>
            <a:off x="548640" y="4206240"/>
            <a:ext cx="8046720" cy="365760"/>
          </a:xfrm>
          <a:prstGeom prst="rect">
            <a:avLst/>
          </a:prstGeom>
          <a:noFill/>
          <a:ln/>
        </p:spPr>
        <p:txBody>
          <a:bodyPr wrap="square" lIns="0" tIns="0" rIns="0" bIns="0" rtlCol="0" anchor="ctr"/>
          <a:lstStyle/>
          <a:p>
            <a:pPr marL="0" indent="0">
              <a:buNone/>
            </a:pPr>
            <a:r>
              <a:rPr lang="en-US" sz="1600" i="1" dirty="0">
                <a:solidFill>
                  <a:srgbClr val="1F5FBF"/>
                </a:solidFill>
                <a:latin typeface="Calibri" pitchFamily="34" charset="0"/>
                <a:ea typeface="Calibri" pitchFamily="34" charset="-122"/>
                <a:cs typeface="Calibri" pitchFamily="34" charset="-120"/>
              </a:rPr>
              <a:t>Anything that would stop us starting on Mon 2 Nov 2026?</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assumptions I made, and why</a:t>
            </a:r>
            <a:endParaRPr lang="en-US" sz="3000" dirty="0"/>
          </a:p>
        </p:txBody>
      </p:sp>
      <p:graphicFrame>
        <p:nvGraphicFramePr>
          <p:cNvPr id="8" name="assume"/>
          <p:cNvGraphicFramePr>
            <a:graphicFrameLocks noGrp="1"/>
          </p:cNvGraphicFramePr>
          <p:nvPr>
            <p:extLst>
              <p:ext uri="{D42A27DB-BD31-4B8C-83A1-F6EECF244321}">
                <p14:modId xmlns:p14="http://schemas.microsoft.com/office/powerpoint/2010/main" val="1579011935"/>
              </p:ext>
            </p:extLst>
          </p:nvPr>
        </p:nvGraphicFramePr>
        <p:xfrm>
          <a:off x="548640" y="1280160"/>
          <a:ext cx="8046720" cy="2432304"/>
        </p:xfrm>
        <a:graphic>
          <a:graphicData uri="http://schemas.openxmlformats.org/drawingml/2006/table">
            <a:tbl>
              <a:tblPr/>
              <a:tblGrid>
                <a:gridCol w="29260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11480">
                <a:tc>
                  <a:txBody>
                    <a:bodyPr/>
                    <a:lstStyle/>
                    <a:p>
                      <a:pPr marL="0" indent="0">
                        <a:buNone/>
                      </a:pPr>
                      <a:r>
                        <a:rPr lang="en-US" sz="1300" b="1" dirty="0">
                          <a:solidFill>
                            <a:srgbClr val="FFFFFF"/>
                          </a:solidFill>
                        </a:rPr>
                        <a:t>Assumption</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marL="0" indent="0">
                        <a:buNone/>
                      </a:pPr>
                      <a:r>
                        <a:rPr lang="en-US" sz="1300" b="1" dirty="0">
                          <a:solidFill>
                            <a:srgbClr val="FFFFFF"/>
                          </a:solidFill>
                        </a:rPr>
                        <a:t>Why it is reasonable</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tc>
                  <a:txBody>
                    <a:bodyPr/>
                    <a:lstStyle/>
                    <a:p>
                      <a:pPr marL="0" indent="0">
                        <a:buNone/>
                      </a:pPr>
                      <a:r>
                        <a:rPr lang="en-US" sz="1300" b="1" dirty="0">
                          <a:solidFill>
                            <a:srgbClr val="FFFFFF"/>
                          </a:solidFill>
                        </a:rPr>
                        <a:t>What changes if wrong</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1F5FBF"/>
                    </a:solidFill>
                  </a:tcPr>
                </a:tc>
                <a:extLst>
                  <a:ext uri="{0D108BD9-81ED-4DB2-BD59-A6C34878D82A}">
                    <a16:rowId xmlns:a16="http://schemas.microsoft.com/office/drawing/2014/main" val="10000"/>
                  </a:ext>
                </a:extLst>
              </a:tr>
              <a:tr h="640080">
                <a:tc>
                  <a:txBody>
                    <a:bodyPr/>
                    <a:lstStyle/>
                    <a:p>
                      <a:pPr marL="0" indent="0">
                        <a:buNone/>
                      </a:pPr>
                      <a:r>
                        <a:rPr lang="en-US" sz="1300" dirty="0">
                          <a:solidFill>
                            <a:srgbClr val="1F2933"/>
                          </a:solidFill>
                        </a:rPr>
                        <a:t>POS transaction files land as a daily export; inventory is a weekly snapshot per store and product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Matches the prompt's own description of the sources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Add a connector for the real cadence; pipeline design is unchanged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300" dirty="0">
                          <a:solidFill>
                            <a:srgbClr val="1F2933"/>
                          </a:solidFill>
                        </a:rPr>
                        <a:t>Loyalty file comes from the program vendor, separate from POS</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Matches the prompt's description of a loyalty program</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Point the pipeline at the real vendor export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40080">
                <a:tc>
                  <a:txBody>
                    <a:bodyPr/>
                    <a:lstStyle/>
                    <a:p>
                      <a:pPr marL="0" indent="0">
                        <a:buNone/>
                      </a:pPr>
                      <a:r>
                        <a:rPr lang="en-US" sz="1300" dirty="0">
                          <a:solidFill>
                            <a:srgbClr val="1F2933"/>
                          </a:solidFill>
                        </a:rPr>
                        <a:t>All data in this build is synthetic, generated with a fixed seed</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No customer data used before a signed pilot agreement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tc>
                  <a:txBody>
                    <a:bodyPr/>
                    <a:lstStyle/>
                    <a:p>
                      <a:pPr marL="0" indent="0">
                        <a:buNone/>
                      </a:pPr>
                      <a:r>
                        <a:rPr lang="en-US" sz="1300" dirty="0">
                          <a:solidFill>
                            <a:srgbClr val="1F2933"/>
                          </a:solidFill>
                        </a:rPr>
                        <a:t>Re-run the same pipeline on real data in the pilot</a:t>
                      </a:r>
                      <a:endParaRPr lang="en-US" sz="1300" dirty="0"/>
                    </a:p>
                  </a:txBody>
                  <a:tcPr marL="73152" marR="73152" marT="73152" marB="73152" anchor="ctr">
                    <a:lnL w="9525" cap="flat" cmpd="sng" algn="ctr">
                      <a:solidFill>
                        <a:srgbClr val="D9DCE1"/>
                      </a:solidFill>
                      <a:prstDash val="solid"/>
                      <a:round/>
                      <a:headEnd type="none" w="med" len="med"/>
                      <a:tailEnd type="none" w="med" len="med"/>
                    </a:lnL>
                    <a:lnR w="9525" cap="flat" cmpd="sng" algn="ctr">
                      <a:solidFill>
                        <a:srgbClr val="D9DCE1"/>
                      </a:solidFill>
                      <a:prstDash val="solid"/>
                      <a:round/>
                      <a:headEnd type="none" w="med" len="med"/>
                      <a:tailEnd type="none" w="med" len="med"/>
                    </a:lnR>
                    <a:lnT w="9525" cap="flat" cmpd="sng" algn="ctr">
                      <a:solidFill>
                        <a:srgbClr val="D9DCE1"/>
                      </a:solidFill>
                      <a:prstDash val="solid"/>
                      <a:round/>
                      <a:headEnd type="none" w="med" len="med"/>
                      <a:tailEnd type="none" w="med" len="med"/>
                    </a:lnT>
                    <a:lnB w="9525" cap="flat" cmpd="sng" algn="ctr">
                      <a:solidFill>
                        <a:srgbClr val="D9DC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
            <a:ext cx="8046720" cy="45720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architecture detail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demo/diagrams/architecture.jpg</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8</a:t>
            </a:fld>
            <a:endParaRPr lang="en-US"/>
          </a:p>
        </p:txBody>
      </p:sp>
      <p:pic>
        <p:nvPicPr>
          <p:cNvPr id="6" name="Picture 5">
            <a:extLst>
              <a:ext uri="{FF2B5EF4-FFF2-40B4-BE49-F238E27FC236}">
                <a16:creationId xmlns:a16="http://schemas.microsoft.com/office/drawing/2014/main" id="{5A1974E4-F73F-5E5C-D43B-582B5FA44A9E}"/>
              </a:ext>
            </a:extLst>
          </p:cNvPr>
          <p:cNvPicPr>
            <a:picLocks noChangeAspect="1"/>
          </p:cNvPicPr>
          <p:nvPr/>
        </p:nvPicPr>
        <p:blipFill>
          <a:blip r:embed="rId3"/>
          <a:stretch>
            <a:fillRect/>
          </a:stretch>
        </p:blipFill>
        <p:spPr>
          <a:xfrm>
            <a:off x="132080" y="571500"/>
            <a:ext cx="8849360" cy="43966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
            <a:ext cx="8046720" cy="36576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data model</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demo/diagrams/data_model.jpg</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9</a:t>
            </a:fld>
            <a:endParaRPr lang="en-US"/>
          </a:p>
        </p:txBody>
      </p:sp>
      <p:pic>
        <p:nvPicPr>
          <p:cNvPr id="7" name="Picture 6">
            <a:extLst>
              <a:ext uri="{FF2B5EF4-FFF2-40B4-BE49-F238E27FC236}">
                <a16:creationId xmlns:a16="http://schemas.microsoft.com/office/drawing/2014/main" id="{147C40EF-8A04-A83E-B604-ED6EB968887E}"/>
              </a:ext>
            </a:extLst>
          </p:cNvPr>
          <p:cNvPicPr>
            <a:picLocks noChangeAspect="1"/>
          </p:cNvPicPr>
          <p:nvPr/>
        </p:nvPicPr>
        <p:blipFill>
          <a:blip r:embed="rId3"/>
          <a:stretch>
            <a:fillRect/>
          </a:stretch>
        </p:blipFill>
        <p:spPr>
          <a:xfrm>
            <a:off x="445111" y="571500"/>
            <a:ext cx="8282329" cy="43561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0"/>
            <a:ext cx="8046720" cy="4267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Dashboard Executive page</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Executive page (net sales, margin, margin rate, region)</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10</a:t>
            </a:fld>
            <a:endParaRPr lang="en-US"/>
          </a:p>
        </p:txBody>
      </p:sp>
      <p:pic>
        <p:nvPicPr>
          <p:cNvPr id="5" name="Picture 4">
            <a:extLst>
              <a:ext uri="{FF2B5EF4-FFF2-40B4-BE49-F238E27FC236}">
                <a16:creationId xmlns:a16="http://schemas.microsoft.com/office/drawing/2014/main" id="{9387B8A3-36E4-FC9B-3BD2-B6FE8859A82D}"/>
              </a:ext>
            </a:extLst>
          </p:cNvPr>
          <p:cNvPicPr>
            <a:picLocks noChangeAspect="1"/>
          </p:cNvPicPr>
          <p:nvPr/>
        </p:nvPicPr>
        <p:blipFill>
          <a:blip r:embed="rId3"/>
          <a:stretch>
            <a:fillRect/>
          </a:stretch>
        </p:blipFill>
        <p:spPr>
          <a:xfrm>
            <a:off x="116840" y="571500"/>
            <a:ext cx="8956040" cy="42723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79A6DB0-7C4B-6113-46F5-0F1322C3243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6F62FD-17F9-29B7-86F6-CD8CEF49CC2A}"/>
              </a:ext>
            </a:extLst>
          </p:cNvPr>
          <p:cNvSpPr>
            <a:spLocks noGrp="1"/>
          </p:cNvSpPr>
          <p:nvPr>
            <p:ph type="title" idx="100" hasCustomPrompt="1"/>
          </p:nvPr>
        </p:nvSpPr>
        <p:spPr>
          <a:xfrm>
            <a:off x="548640" y="0"/>
            <a:ext cx="8046720" cy="4267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Dashboard Merchandising and inventory page</a:t>
            </a:r>
            <a:endParaRPr lang="en-US" sz="3000" dirty="0"/>
          </a:p>
        </p:txBody>
      </p:sp>
      <p:sp>
        <p:nvSpPr>
          <p:cNvPr id="3" name="ph">
            <a:extLst>
              <a:ext uri="{FF2B5EF4-FFF2-40B4-BE49-F238E27FC236}">
                <a16:creationId xmlns:a16="http://schemas.microsoft.com/office/drawing/2014/main" id="{9A0F2E1F-1F7D-6906-6DF2-59D2D9FABD09}"/>
              </a:ext>
            </a:extLst>
          </p:cNvPr>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a:extLst>
              <a:ext uri="{FF2B5EF4-FFF2-40B4-BE49-F238E27FC236}">
                <a16:creationId xmlns:a16="http://schemas.microsoft.com/office/drawing/2014/main" id="{15F51B03-123D-3AB8-ADC9-C89F7F852427}"/>
              </a:ext>
            </a:extLst>
          </p:cNvPr>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Merchandising and inventory page (stock-out exposure, worst-promotions table)</a:t>
            </a:r>
            <a:endParaRPr lang="en-US" sz="1600" dirty="0"/>
          </a:p>
        </p:txBody>
      </p:sp>
      <p:sp>
        <p:nvSpPr>
          <p:cNvPr id="25" name="Slide Number Placeholder 0">
            <a:extLst>
              <a:ext uri="{FF2B5EF4-FFF2-40B4-BE49-F238E27FC236}">
                <a16:creationId xmlns:a16="http://schemas.microsoft.com/office/drawing/2014/main" id="{C63B8AA6-1D0B-05C9-13B3-8D36BFE6FDF4}"/>
              </a:ext>
            </a:extLst>
          </p:cNvPr>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11</a:t>
            </a:fld>
            <a:endParaRPr lang="en-US"/>
          </a:p>
        </p:txBody>
      </p:sp>
      <p:pic>
        <p:nvPicPr>
          <p:cNvPr id="6" name="Picture 5">
            <a:extLst>
              <a:ext uri="{FF2B5EF4-FFF2-40B4-BE49-F238E27FC236}">
                <a16:creationId xmlns:a16="http://schemas.microsoft.com/office/drawing/2014/main" id="{DDEBF112-D9C7-F492-301E-A9A61A99A3BF}"/>
              </a:ext>
            </a:extLst>
          </p:cNvPr>
          <p:cNvPicPr>
            <a:picLocks noChangeAspect="1"/>
          </p:cNvPicPr>
          <p:nvPr/>
        </p:nvPicPr>
        <p:blipFill>
          <a:blip r:embed="rId3"/>
          <a:stretch>
            <a:fillRect/>
          </a:stretch>
        </p:blipFill>
        <p:spPr>
          <a:xfrm>
            <a:off x="157480" y="765810"/>
            <a:ext cx="8712200" cy="4229100"/>
          </a:xfrm>
          <a:prstGeom prst="rect">
            <a:avLst/>
          </a:prstGeom>
        </p:spPr>
      </p:pic>
    </p:spTree>
    <p:extLst>
      <p:ext uri="{BB962C8B-B14F-4D97-AF65-F5344CB8AC3E}">
        <p14:creationId xmlns:p14="http://schemas.microsoft.com/office/powerpoint/2010/main" val="153349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1281ED9-8635-DC84-C5C5-2DE9568191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28F133B-1C44-7552-3201-130F947597D8}"/>
              </a:ext>
            </a:extLst>
          </p:cNvPr>
          <p:cNvSpPr>
            <a:spLocks noGrp="1"/>
          </p:cNvSpPr>
          <p:nvPr>
            <p:ph type="title" idx="100" hasCustomPrompt="1"/>
          </p:nvPr>
        </p:nvSpPr>
        <p:spPr>
          <a:xfrm>
            <a:off x="548640" y="0"/>
            <a:ext cx="8046720" cy="42672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Dashboard Store operations and customer page (Trust tile)</a:t>
            </a:r>
            <a:endParaRPr lang="en-US" sz="3000" dirty="0"/>
          </a:p>
        </p:txBody>
      </p:sp>
      <p:sp>
        <p:nvSpPr>
          <p:cNvPr id="3" name="ph">
            <a:extLst>
              <a:ext uri="{FF2B5EF4-FFF2-40B4-BE49-F238E27FC236}">
                <a16:creationId xmlns:a16="http://schemas.microsoft.com/office/drawing/2014/main" id="{FBC154D7-B109-7584-482C-77D58B8B89C0}"/>
              </a:ext>
            </a:extLst>
          </p:cNvPr>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a:extLst>
              <a:ext uri="{FF2B5EF4-FFF2-40B4-BE49-F238E27FC236}">
                <a16:creationId xmlns:a16="http://schemas.microsoft.com/office/drawing/2014/main" id="{EBEF49E8-B061-8829-2B23-6A5FFA2B01C6}"/>
              </a:ext>
            </a:extLst>
          </p:cNvPr>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Store operations and customer page (loyalty retention, basket affinity, Trust tile)</a:t>
            </a:r>
            <a:endParaRPr lang="en-US" sz="1600" dirty="0"/>
          </a:p>
        </p:txBody>
      </p:sp>
      <p:sp>
        <p:nvSpPr>
          <p:cNvPr id="25" name="Slide Number Placeholder 0">
            <a:extLst>
              <a:ext uri="{FF2B5EF4-FFF2-40B4-BE49-F238E27FC236}">
                <a16:creationId xmlns:a16="http://schemas.microsoft.com/office/drawing/2014/main" id="{7AB5E976-8128-86B3-2721-57F5E9BA83ED}"/>
              </a:ext>
            </a:extLst>
          </p:cNvPr>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12</a:t>
            </a:fld>
            <a:endParaRPr lang="en-US"/>
          </a:p>
        </p:txBody>
      </p:sp>
      <p:pic>
        <p:nvPicPr>
          <p:cNvPr id="5" name="Picture 4">
            <a:extLst>
              <a:ext uri="{FF2B5EF4-FFF2-40B4-BE49-F238E27FC236}">
                <a16:creationId xmlns:a16="http://schemas.microsoft.com/office/drawing/2014/main" id="{E5EE28DE-F3A6-2BE7-CD68-D3C3AFBFCC1A}"/>
              </a:ext>
            </a:extLst>
          </p:cNvPr>
          <p:cNvPicPr>
            <a:picLocks noChangeAspect="1"/>
          </p:cNvPicPr>
          <p:nvPr/>
        </p:nvPicPr>
        <p:blipFill>
          <a:blip r:embed="rId3"/>
          <a:stretch>
            <a:fillRect/>
          </a:stretch>
        </p:blipFill>
        <p:spPr>
          <a:xfrm>
            <a:off x="228599" y="571500"/>
            <a:ext cx="8728529" cy="4102100"/>
          </a:xfrm>
          <a:prstGeom prst="rect">
            <a:avLst/>
          </a:prstGeom>
        </p:spPr>
      </p:pic>
    </p:spTree>
    <p:extLst>
      <p:ext uri="{BB962C8B-B14F-4D97-AF65-F5344CB8AC3E}">
        <p14:creationId xmlns:p14="http://schemas.microsoft.com/office/powerpoint/2010/main" val="4081044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0"/>
            <a:ext cx="8046720" cy="48768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Dashboard Key Figures page</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Key Figures page (margin at risk, loyalty retention, trust recap)</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13</a:t>
            </a:fld>
            <a:endParaRPr lang="en-US"/>
          </a:p>
        </p:txBody>
      </p:sp>
      <p:pic>
        <p:nvPicPr>
          <p:cNvPr id="5" name="Picture 4">
            <a:extLst>
              <a:ext uri="{FF2B5EF4-FFF2-40B4-BE49-F238E27FC236}">
                <a16:creationId xmlns:a16="http://schemas.microsoft.com/office/drawing/2014/main" id="{692F850A-871F-A0B5-77A4-17E372A3B89C}"/>
              </a:ext>
            </a:extLst>
          </p:cNvPr>
          <p:cNvPicPr>
            <a:picLocks noChangeAspect="1"/>
          </p:cNvPicPr>
          <p:nvPr/>
        </p:nvPicPr>
        <p:blipFill>
          <a:blip r:embed="rId3"/>
          <a:stretch>
            <a:fillRect/>
          </a:stretch>
        </p:blipFill>
        <p:spPr>
          <a:xfrm>
            <a:off x="106680" y="487680"/>
            <a:ext cx="8852838" cy="4312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
            <a:ext cx="8046720" cy="35306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App Home</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App Home (headline KPIs, two charts)</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14</a:t>
            </a:fld>
            <a:endParaRPr lang="en-US"/>
          </a:p>
        </p:txBody>
      </p:sp>
      <p:pic>
        <p:nvPicPr>
          <p:cNvPr id="5" name="Picture 4">
            <a:extLst>
              <a:ext uri="{FF2B5EF4-FFF2-40B4-BE49-F238E27FC236}">
                <a16:creationId xmlns:a16="http://schemas.microsoft.com/office/drawing/2014/main" id="{92176AA7-20DF-1BE0-D700-97D0F7F52140}"/>
              </a:ext>
            </a:extLst>
          </p:cNvPr>
          <p:cNvPicPr>
            <a:picLocks noChangeAspect="1"/>
          </p:cNvPicPr>
          <p:nvPr/>
        </p:nvPicPr>
        <p:blipFill>
          <a:blip r:embed="rId3"/>
          <a:stretch>
            <a:fillRect/>
          </a:stretch>
        </p:blipFill>
        <p:spPr>
          <a:xfrm>
            <a:off x="269240" y="571500"/>
            <a:ext cx="8600440" cy="414128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
            <a:ext cx="8046720" cy="45720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screenshot — App Ask the Genie</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demo/fallback/SCREENSHOTS_TO_TAKE.md — App Ask the Genie (a tested question, answered)</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15</a:t>
            </a:fld>
            <a:endParaRPr lang="en-US"/>
          </a:p>
        </p:txBody>
      </p:sp>
      <p:pic>
        <p:nvPicPr>
          <p:cNvPr id="5" name="Picture 4">
            <a:extLst>
              <a:ext uri="{FF2B5EF4-FFF2-40B4-BE49-F238E27FC236}">
                <a16:creationId xmlns:a16="http://schemas.microsoft.com/office/drawing/2014/main" id="{EEFAD5F3-7BCB-6345-EF4F-714F803A0197}"/>
              </a:ext>
            </a:extLst>
          </p:cNvPr>
          <p:cNvPicPr>
            <a:picLocks noChangeAspect="1"/>
          </p:cNvPicPr>
          <p:nvPr/>
        </p:nvPicPr>
        <p:blipFill>
          <a:blip r:embed="rId3"/>
          <a:stretch>
            <a:fillRect/>
          </a:stretch>
        </p:blipFill>
        <p:spPr>
          <a:xfrm>
            <a:off x="127000" y="571500"/>
            <a:ext cx="8915400" cy="429294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14300"/>
            <a:ext cx="8046720" cy="457200"/>
          </a:xfrm>
          <a:prstGeom prst="rect">
            <a:avLst/>
          </a:prstGeom>
          <a:noFill/>
          <a:ln/>
        </p:spPr>
        <p:txBody>
          <a:bodyPr wrap="square" lIns="0" tIns="0" rIns="0" bIns="0" rtlCol="0" anchor="ctr"/>
          <a:lstStyle/>
          <a:p>
            <a:pPr marL="0" indent="0" algn="l">
              <a:buNone/>
            </a:pPr>
            <a:r>
              <a:rPr lang="en-US" sz="3000" b="1" dirty="0">
                <a:solidFill>
                  <a:srgbClr val="1F2933"/>
                </a:solidFill>
                <a:latin typeface="Calibri" pitchFamily="34" charset="0"/>
                <a:ea typeface="Calibri" pitchFamily="34" charset="-122"/>
                <a:cs typeface="Calibri" pitchFamily="34" charset="-120"/>
              </a:rPr>
              <a:t>Backup: how this was built (for the debrief)</a:t>
            </a:r>
            <a:endParaRPr lang="en-US" sz="3000" dirty="0"/>
          </a:p>
        </p:txBody>
      </p:sp>
      <p:sp>
        <p:nvSpPr>
          <p:cNvPr id="3" name="ph"/>
          <p:cNvSpPr/>
          <p:nvPr/>
        </p:nvSpPr>
        <p:spPr>
          <a:xfrm>
            <a:off x="548640" y="1188720"/>
            <a:ext cx="8046720" cy="3383280"/>
          </a:xfrm>
          <a:prstGeom prst="rect">
            <a:avLst/>
          </a:prstGeom>
          <a:solidFill>
            <a:srgbClr val="FFFFFF"/>
          </a:solidFill>
          <a:ln w="12700">
            <a:solidFill>
              <a:srgbClr val="6B7280"/>
            </a:solidFill>
            <a:prstDash val="dash"/>
          </a:ln>
        </p:spPr>
        <p:txBody>
          <a:bodyPr/>
          <a:lstStyle/>
          <a:p>
            <a:endParaRPr/>
          </a:p>
        </p:txBody>
      </p:sp>
      <p:sp>
        <p:nvSpPr>
          <p:cNvPr id="4" name="Text 2"/>
          <p:cNvSpPr txBox="1"/>
          <p:nvPr/>
        </p:nvSpPr>
        <p:spPr>
          <a:xfrm>
            <a:off x="548640" y="1188720"/>
            <a:ext cx="8046720" cy="3383280"/>
          </a:xfrm>
          <a:prstGeom prst="rect">
            <a:avLst/>
          </a:prstGeom>
          <a:noFill/>
          <a:ln/>
        </p:spPr>
        <p:txBody>
          <a:bodyPr wrap="square" lIns="0" tIns="0" rIns="0" bIns="0" rtlCol="0" anchor="ctr"/>
          <a:lstStyle/>
          <a:p>
            <a:pPr marL="0" indent="0" algn="ctr">
              <a:buNone/>
            </a:pPr>
            <a:r>
              <a:rPr lang="en-US" sz="1600" dirty="0">
                <a:solidFill>
                  <a:srgbClr val="6B7280"/>
                </a:solidFill>
                <a:latin typeface="Calibri" pitchFamily="34" charset="0"/>
                <a:ea typeface="Calibri" pitchFamily="34" charset="-122"/>
                <a:cs typeface="Calibri" pitchFamily="34" charset="-120"/>
              </a:rPr>
              <a:t>See demo/diagrams/toolchain.jpg — Claude Code, Databricks CLI, Databricks, Git</a:t>
            </a:r>
            <a:endParaRPr lang="en-US" sz="1600" dirty="0"/>
          </a:p>
        </p:txBody>
      </p:sp>
      <p:sp>
        <p:nvSpPr>
          <p:cNvPr id="25" name="Slide Number Placeholder 0"/>
          <p:cNvSpPr>
            <a:spLocks noGrp="1"/>
          </p:cNvSpPr>
          <p:nvPr>
            <p:ph type="sldNum" sz="quarter" idx="4294967295"/>
          </p:nvPr>
        </p:nvSpPr>
        <p:spPr>
          <a:xfrm>
            <a:off x="8412480" y="480060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B7280"/>
                </a:solidFill>
              </a:defRPr>
            </a:lvl1pPr>
          </a:lstStyle>
          <a:p>
            <a:pPr algn="l"/>
            <a:fld id="{F7021451-1387-4CA6-816F-3879F97B5CBC}" type="slidenum">
              <a:rPr lang="en-US" b="0"/>
              <a:t>16</a:t>
            </a:fld>
            <a:endParaRPr lang="en-US"/>
          </a:p>
        </p:txBody>
      </p:sp>
      <p:pic>
        <p:nvPicPr>
          <p:cNvPr id="6" name="Picture 5">
            <a:extLst>
              <a:ext uri="{FF2B5EF4-FFF2-40B4-BE49-F238E27FC236}">
                <a16:creationId xmlns:a16="http://schemas.microsoft.com/office/drawing/2014/main" id="{A215CF13-84D4-9005-ED39-0DFDF70A185D}"/>
              </a:ext>
            </a:extLst>
          </p:cNvPr>
          <p:cNvPicPr>
            <a:picLocks noChangeAspect="1"/>
          </p:cNvPicPr>
          <p:nvPr/>
        </p:nvPicPr>
        <p:blipFill>
          <a:blip r:embed="rId3"/>
          <a:stretch>
            <a:fillRect/>
          </a:stretch>
        </p:blipFill>
        <p:spPr>
          <a:xfrm>
            <a:off x="548640" y="551180"/>
            <a:ext cx="8158480" cy="4380974"/>
          </a:xfrm>
          <a:prstGeom prst="rect">
            <a:avLst/>
          </a:prstGeom>
        </p:spPr>
      </p:pic>
    </p:spTree>
  </p:cSld>
  <p:clrMapOvr>
    <a:masterClrMapping/>
  </p:clrMapOvr>
</p:sld>
</file>

<file path=ppt/theme/theme1.xml><?xml version="1.0" encoding="utf-8"?>
<a:theme xmlns:a="http://schemas.openxmlformats.org/drawingml/2006/main" name="Presales White">
  <a:themeElements>
    <a:clrScheme name="Presales White">
      <a:dk1>
        <a:srgbClr val="1F2933"/>
      </a:dk1>
      <a:lt1>
        <a:srgbClr val="FFFFFF"/>
      </a:lt1>
      <a:dk2>
        <a:srgbClr val="1F2933"/>
      </a:dk2>
      <a:lt2>
        <a:srgbClr val="F5F6F8"/>
      </a:lt2>
      <a:accent1>
        <a:srgbClr val="1F5FBF"/>
      </a:accent1>
      <a:accent2>
        <a:srgbClr val="6B7280"/>
      </a:accent2>
      <a:accent3>
        <a:srgbClr val="1F5FBF"/>
      </a:accent3>
      <a:accent4>
        <a:srgbClr val="6B7280"/>
      </a:accent4>
      <a:accent5>
        <a:srgbClr val="1F5FBF"/>
      </a:accent5>
      <a:accent6>
        <a:srgbClr val="6B7280"/>
      </a:accent6>
      <a:hlink>
        <a:srgbClr val="1F5FBF"/>
      </a:hlink>
      <a:folHlink>
        <a:srgbClr val="6B7280"/>
      </a:folHlink>
    </a:clrScheme>
    <a:fontScheme name="Presales Whi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2434</Words>
  <Application>Microsoft Macintosh PowerPoint</Application>
  <PresentationFormat>On-screen Show (16:9)</PresentationFormat>
  <Paragraphs>175</Paragraphs>
  <Slides>16</Slides>
  <Notes>16</Notes>
  <HiddenSlides>10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Presales White</vt:lpstr>
      <vt:lpstr>Birchwood Retail Group: Plan the next peak with one trusted view</vt:lpstr>
      <vt:lpstr>What I heard from each of you</vt:lpstr>
      <vt:lpstr>What changes for each of you</vt:lpstr>
      <vt:lpstr>How it works, and why each piece matters to you</vt:lpstr>
      <vt:lpstr>A two-week pilot, with a clear path to go-live</vt:lpstr>
      <vt:lpstr>Next steps</vt:lpstr>
      <vt:lpstr>Backup: assumptions I made, and why</vt:lpstr>
      <vt:lpstr>Backup: architecture detail</vt:lpstr>
      <vt:lpstr>Backup: data model</vt:lpstr>
      <vt:lpstr>Backup: screenshot — Dashboard Executive page</vt:lpstr>
      <vt:lpstr>Backup: screenshot — Dashboard  page 2 </vt:lpstr>
      <vt:lpstr>Backup: screenshot — Dashboard  page 3</vt:lpstr>
      <vt:lpstr>Backup: screenshot — Dashboard Key Figures page</vt:lpstr>
      <vt:lpstr>Backup: screenshot — App Home</vt:lpstr>
      <vt:lpstr>Backup: screenshot — App Ask the Genie</vt:lpstr>
      <vt:lpstr>Backup: how this was built (for the debrief)</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Pre-sales Customer Meeting Template v3</dc:title>
  <dc:subject>PptxGenJS Presentation</dc:subject>
  <dc:creator>PptxGenJS</dc:creator>
  <cp:lastModifiedBy>Javed Ali</cp:lastModifiedBy>
  <cp:revision>4</cp:revision>
  <dcterms:created xsi:type="dcterms:W3CDTF">2026-10-20T19:41:12Z</dcterms:created>
  <dcterms:modified xsi:type="dcterms:W3CDTF">2026-10-27T19:22:55Z</dcterms:modified>
</cp:coreProperties>
</file>